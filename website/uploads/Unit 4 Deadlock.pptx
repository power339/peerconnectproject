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4"/>
    <p:sldId id="288" r:id="rId25"/>
    <p:sldId id="289" r:id="rId26"/>
    <p:sldId id="293" r:id="rId27"/>
    <p:sldId id="291" r:id="rId28"/>
    <p:sldId id="292" r:id="rId29"/>
    <p:sldId id="290" r:id="rId30"/>
    <p:sldId id="277" r:id="rId31"/>
    <p:sldId id="278" r:id="rId32"/>
    <p:sldId id="280" r:id="rId33"/>
    <p:sldId id="279" r:id="rId34"/>
    <p:sldId id="281" r:id="rId35"/>
    <p:sldId id="282" r:id="rId36"/>
    <p:sldId id="283" r:id="rId37"/>
    <p:sldId id="284" r:id="rId38"/>
    <p:sldId id="285" r:id="rId39"/>
    <p:sldId id="286" r:id="rId40"/>
    <p:sldId id="302" r:id="rId41"/>
    <p:sldId id="303" r:id="rId42"/>
    <p:sldId id="304" r:id="rId43"/>
    <p:sldId id="305" r:id="rId44"/>
    <p:sldId id="307" r:id="rId45"/>
    <p:sldId id="306" r:id="rId46"/>
    <p:sldId id="295" r:id="rId47"/>
    <p:sldId id="296" r:id="rId48"/>
    <p:sldId id="297" r:id="rId49"/>
    <p:sldId id="298" r:id="rId50"/>
    <p:sldId id="309" r:id="rId51"/>
    <p:sldId id="299" r:id="rId52"/>
    <p:sldId id="308" r:id="rId53"/>
    <p:sldId id="300" r:id="rId54"/>
    <p:sldId id="301" r:id="rId5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3BB1202-DC85-43C7-9805-958CFE2D7501}"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1AC137F-8279-4C87-9821-C526B98EA8B0}" type="slidenum">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Image Placeholder 1"/>
          <p:cNvSpPr>
            <a:spLocks noGrp="1" noRot="1" noChangeAspect="1" noTextEdit="1"/>
          </p:cNvSpPr>
          <p:nvPr>
            <p:ph type="sldImg"/>
          </p:nvPr>
        </p:nvSpPr>
        <p:spPr>
          <a:ln>
            <a:solidFill>
              <a:srgbClr val="000000">
                <a:alpha val="100000"/>
              </a:srgbClr>
            </a:solidFill>
            <a:miter lim="800000"/>
          </a:ln>
        </p:spPr>
      </p:sp>
      <p:sp>
        <p:nvSpPr>
          <p:cNvPr id="2662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endParaRPr dirty="0"/>
          </a:p>
        </p:txBody>
      </p:sp>
      <p:sp>
        <p:nvSpPr>
          <p:cNvPr id="2662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746" name="Rectangle 8"/>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GB" altLang="x-none" sz="1200" dirty="0">
                <a:latin typeface="Calibri" panose="020F0502020204030204" pitchFamily="34" charset="0"/>
              </a:rPr>
            </a:fld>
            <a:endParaRPr lang="en-GB" altLang="x-none" sz="1200" dirty="0">
              <a:latin typeface="Calibri" panose="020F0502020204030204" pitchFamily="34" charset="0"/>
            </a:endParaRPr>
          </a:p>
        </p:txBody>
      </p:sp>
      <p:sp>
        <p:nvSpPr>
          <p:cNvPr id="31747" name="Text Box 1"/>
          <p:cNvSpPr txBox="1"/>
          <p:nvPr/>
        </p:nvSpPr>
        <p:spPr>
          <a:xfrm>
            <a:off x="3887788" y="8686800"/>
            <a:ext cx="2968625" cy="455613"/>
          </a:xfrm>
          <a:prstGeom prst="rect">
            <a:avLst/>
          </a:prstGeom>
          <a:noFill/>
          <a:ln w="9525">
            <a:noFill/>
          </a:ln>
        </p:spPr>
        <p:txBody>
          <a:bodyPr lIns="91601" tIns="45630" rIns="91601" bIns="45630" anchor="b" anchorCtr="0"/>
          <a:p>
            <a:pPr lvl="0" algn="r" defTabSz="914400" eaLnBrk="1" hangingPunct="1">
              <a:buSzPct val="45000"/>
              <a:tabLst>
                <a:tab pos="0" algn="l"/>
                <a:tab pos="431800" algn="l"/>
                <a:tab pos="863600" algn="l"/>
                <a:tab pos="1297305" algn="l"/>
                <a:tab pos="1729105" algn="l"/>
                <a:tab pos="2162175" algn="l"/>
                <a:tab pos="2593975" algn="l"/>
                <a:tab pos="3025775" algn="l"/>
                <a:tab pos="3459480" algn="l"/>
                <a:tab pos="3891280" algn="l"/>
                <a:tab pos="4324350" algn="l"/>
                <a:tab pos="4756150" algn="l"/>
                <a:tab pos="5189855" algn="l"/>
                <a:tab pos="5621655" algn="l"/>
                <a:tab pos="6053455" algn="l"/>
                <a:tab pos="6486525" algn="l"/>
                <a:tab pos="6918325" algn="l"/>
                <a:tab pos="7352030" algn="l"/>
                <a:tab pos="7783830" algn="l"/>
                <a:tab pos="8215630" algn="l"/>
                <a:tab pos="8648700" algn="l"/>
              </a:tabLst>
            </a:pPr>
            <a:fld id="{9A0DB2DC-4C9A-4742-B13C-FB6460FD3503}" type="slidenum">
              <a:rPr lang="en-GB" altLang="x-none" sz="1200" dirty="0">
                <a:solidFill>
                  <a:srgbClr val="000000"/>
                </a:solidFill>
                <a:latin typeface="Calibri" panose="020F0502020204030204" pitchFamily="34" charset="0"/>
                <a:cs typeface="Lucida Sans Unicode" panose="020B0602030504020204" pitchFamily="34" charset="0"/>
              </a:rPr>
            </a:fld>
            <a:endParaRPr lang="en-GB" altLang="x-none" sz="1200" dirty="0">
              <a:solidFill>
                <a:srgbClr val="000000"/>
              </a:solidFill>
              <a:latin typeface="Calibri" panose="020F0502020204030204" pitchFamily="34" charset="0"/>
              <a:ea typeface="Lucida Sans Unicode" panose="020B0602030504020204" pitchFamily="34" charset="0"/>
              <a:cs typeface="Lucida Sans Unicode" panose="020B0602030504020204" pitchFamily="34" charset="0"/>
            </a:endParaRPr>
          </a:p>
        </p:txBody>
      </p:sp>
      <p:sp>
        <p:nvSpPr>
          <p:cNvPr id="31748" name="Rectangle 2"/>
          <p:cNvSpPr>
            <a:spLocks noGrp="1" noRot="1" noChangeAspect="1" noTextEdit="1"/>
          </p:cNvSpPr>
          <p:nvPr>
            <p:ph type="sldImg"/>
          </p:nvPr>
        </p:nvSpPr>
        <p:spPr>
          <a:xfrm>
            <a:off x="1144588" y="685800"/>
            <a:ext cx="4570412" cy="3429000"/>
          </a:xfrm>
          <a:ln>
            <a:solidFill>
              <a:srgbClr val="000000">
                <a:alpha val="100000"/>
              </a:srgbClr>
            </a:solidFill>
            <a:miter lim="800000"/>
          </a:ln>
        </p:spPr>
      </p:sp>
      <p:sp>
        <p:nvSpPr>
          <p:cNvPr id="31749" name="Text Box 3"/>
          <p:cNvSpPr txBox="1"/>
          <p:nvPr/>
        </p:nvSpPr>
        <p:spPr>
          <a:xfrm>
            <a:off x="914400" y="4343400"/>
            <a:ext cx="5029200" cy="4114800"/>
          </a:xfrm>
          <a:prstGeom prst="rect">
            <a:avLst/>
          </a:prstGeom>
          <a:noFill/>
          <a:ln w="9525">
            <a:noFill/>
          </a:ln>
        </p:spPr>
        <p:txBody>
          <a:bodyPr wrap="none" lIns="86493" tIns="43247" rIns="86493" bIns="43247" anchor="ctr" anchorCtr="0"/>
          <a:p>
            <a:pPr lvl="0" eaLnBrk="1" hangingPunct="1"/>
            <a:endParaRPr lang="en-IN" altLang="x-none" dirty="0">
              <a:latin typeface="Calibri" panose="020F0502020204030204" pitchFamily="34" charset="0"/>
              <a:ea typeface="Lucida Sans Unicode" panose="020B0602030504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794" name="Rectangle 8"/>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GB" altLang="x-none" sz="1200" dirty="0">
                <a:latin typeface="Calibri" panose="020F0502020204030204" pitchFamily="34" charset="0"/>
              </a:rPr>
            </a:fld>
            <a:endParaRPr lang="en-GB" altLang="x-none" sz="1200" dirty="0">
              <a:latin typeface="Calibri" panose="020F0502020204030204" pitchFamily="34" charset="0"/>
            </a:endParaRPr>
          </a:p>
        </p:txBody>
      </p:sp>
      <p:sp>
        <p:nvSpPr>
          <p:cNvPr id="33795" name="Text Box 1"/>
          <p:cNvSpPr txBox="1"/>
          <p:nvPr/>
        </p:nvSpPr>
        <p:spPr>
          <a:xfrm>
            <a:off x="3887788" y="8686800"/>
            <a:ext cx="2968625" cy="455613"/>
          </a:xfrm>
          <a:prstGeom prst="rect">
            <a:avLst/>
          </a:prstGeom>
          <a:noFill/>
          <a:ln w="9525">
            <a:noFill/>
          </a:ln>
        </p:spPr>
        <p:txBody>
          <a:bodyPr lIns="91601" tIns="45630" rIns="91601" bIns="45630" anchor="b" anchorCtr="0"/>
          <a:p>
            <a:pPr lvl="0" algn="r" defTabSz="914400" eaLnBrk="1" hangingPunct="1">
              <a:buSzPct val="45000"/>
              <a:tabLst>
                <a:tab pos="0" algn="l"/>
                <a:tab pos="431800" algn="l"/>
                <a:tab pos="863600" algn="l"/>
                <a:tab pos="1297305" algn="l"/>
                <a:tab pos="1729105" algn="l"/>
                <a:tab pos="2162175" algn="l"/>
                <a:tab pos="2593975" algn="l"/>
                <a:tab pos="3025775" algn="l"/>
                <a:tab pos="3459480" algn="l"/>
                <a:tab pos="3891280" algn="l"/>
                <a:tab pos="4324350" algn="l"/>
                <a:tab pos="4756150" algn="l"/>
                <a:tab pos="5189855" algn="l"/>
                <a:tab pos="5621655" algn="l"/>
                <a:tab pos="6053455" algn="l"/>
                <a:tab pos="6486525" algn="l"/>
                <a:tab pos="6918325" algn="l"/>
                <a:tab pos="7352030" algn="l"/>
                <a:tab pos="7783830" algn="l"/>
                <a:tab pos="8215630" algn="l"/>
                <a:tab pos="8648700" algn="l"/>
              </a:tabLst>
            </a:pPr>
            <a:fld id="{9A0DB2DC-4C9A-4742-B13C-FB6460FD3503}" type="slidenum">
              <a:rPr lang="en-GB" altLang="x-none" sz="1200" dirty="0">
                <a:solidFill>
                  <a:srgbClr val="000000"/>
                </a:solidFill>
                <a:latin typeface="Calibri" panose="020F0502020204030204" pitchFamily="34" charset="0"/>
                <a:cs typeface="Lucida Sans Unicode" panose="020B0602030504020204" pitchFamily="34" charset="0"/>
              </a:rPr>
            </a:fld>
            <a:endParaRPr lang="en-GB" altLang="x-none" sz="1200" dirty="0">
              <a:solidFill>
                <a:srgbClr val="000000"/>
              </a:solidFill>
              <a:latin typeface="Calibri" panose="020F0502020204030204" pitchFamily="34" charset="0"/>
              <a:ea typeface="Lucida Sans Unicode" panose="020B0602030504020204" pitchFamily="34" charset="0"/>
              <a:cs typeface="Lucida Sans Unicode" panose="020B0602030504020204" pitchFamily="34" charset="0"/>
            </a:endParaRPr>
          </a:p>
        </p:txBody>
      </p:sp>
      <p:sp>
        <p:nvSpPr>
          <p:cNvPr id="33796" name="Rectangle 2"/>
          <p:cNvSpPr>
            <a:spLocks noGrp="1" noRot="1" noChangeAspect="1" noTextEdit="1"/>
          </p:cNvSpPr>
          <p:nvPr>
            <p:ph type="sldImg"/>
          </p:nvPr>
        </p:nvSpPr>
        <p:spPr>
          <a:xfrm>
            <a:off x="1144588" y="685800"/>
            <a:ext cx="4570412" cy="3429000"/>
          </a:xfrm>
          <a:ln>
            <a:solidFill>
              <a:srgbClr val="000000">
                <a:alpha val="100000"/>
              </a:srgbClr>
            </a:solidFill>
            <a:miter lim="800000"/>
          </a:ln>
        </p:spPr>
      </p:sp>
      <p:sp>
        <p:nvSpPr>
          <p:cNvPr id="33797" name="Text Box 3"/>
          <p:cNvSpPr txBox="1"/>
          <p:nvPr/>
        </p:nvSpPr>
        <p:spPr>
          <a:xfrm>
            <a:off x="914400" y="4343400"/>
            <a:ext cx="5029200" cy="4114800"/>
          </a:xfrm>
          <a:prstGeom prst="rect">
            <a:avLst/>
          </a:prstGeom>
          <a:noFill/>
          <a:ln w="9525">
            <a:noFill/>
          </a:ln>
        </p:spPr>
        <p:txBody>
          <a:bodyPr wrap="none" lIns="86493" tIns="43247" rIns="86493" bIns="43247" anchor="ctr" anchorCtr="0"/>
          <a:p>
            <a:pPr lvl="0" eaLnBrk="1" hangingPunct="1"/>
            <a:endParaRPr lang="en-IN" altLang="x-none" dirty="0">
              <a:latin typeface="Calibri" panose="020F0502020204030204" pitchFamily="34" charset="0"/>
              <a:ea typeface="Lucida Sans Unicode" panose="020B0602030504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842" name="Rectangle 8"/>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GB" altLang="x-none" sz="1200" dirty="0">
                <a:latin typeface="Calibri" panose="020F0502020204030204" pitchFamily="34" charset="0"/>
              </a:rPr>
            </a:fld>
            <a:endParaRPr lang="en-GB" altLang="x-none" sz="1200" dirty="0">
              <a:latin typeface="Calibri" panose="020F0502020204030204" pitchFamily="34" charset="0"/>
            </a:endParaRPr>
          </a:p>
        </p:txBody>
      </p:sp>
      <p:sp>
        <p:nvSpPr>
          <p:cNvPr id="35843" name="Text Box 1"/>
          <p:cNvSpPr txBox="1"/>
          <p:nvPr/>
        </p:nvSpPr>
        <p:spPr>
          <a:xfrm>
            <a:off x="3887788" y="8686800"/>
            <a:ext cx="2968625" cy="455613"/>
          </a:xfrm>
          <a:prstGeom prst="rect">
            <a:avLst/>
          </a:prstGeom>
          <a:noFill/>
          <a:ln w="9525">
            <a:noFill/>
          </a:ln>
        </p:spPr>
        <p:txBody>
          <a:bodyPr lIns="91601" tIns="45630" rIns="91601" bIns="45630" anchor="b" anchorCtr="0"/>
          <a:p>
            <a:pPr lvl="0" algn="r" defTabSz="914400" eaLnBrk="1" hangingPunct="1">
              <a:buSzPct val="45000"/>
              <a:tabLst>
                <a:tab pos="0" algn="l"/>
                <a:tab pos="431800" algn="l"/>
                <a:tab pos="863600" algn="l"/>
                <a:tab pos="1297305" algn="l"/>
                <a:tab pos="1729105" algn="l"/>
                <a:tab pos="2162175" algn="l"/>
                <a:tab pos="2593975" algn="l"/>
                <a:tab pos="3025775" algn="l"/>
                <a:tab pos="3459480" algn="l"/>
                <a:tab pos="3891280" algn="l"/>
                <a:tab pos="4324350" algn="l"/>
                <a:tab pos="4756150" algn="l"/>
                <a:tab pos="5189855" algn="l"/>
                <a:tab pos="5621655" algn="l"/>
                <a:tab pos="6053455" algn="l"/>
                <a:tab pos="6486525" algn="l"/>
                <a:tab pos="6918325" algn="l"/>
                <a:tab pos="7352030" algn="l"/>
                <a:tab pos="7783830" algn="l"/>
                <a:tab pos="8215630" algn="l"/>
                <a:tab pos="8648700" algn="l"/>
              </a:tabLst>
            </a:pPr>
            <a:fld id="{9A0DB2DC-4C9A-4742-B13C-FB6460FD3503}" type="slidenum">
              <a:rPr lang="en-GB" altLang="x-none" sz="1200" dirty="0">
                <a:solidFill>
                  <a:srgbClr val="000000"/>
                </a:solidFill>
                <a:latin typeface="Calibri" panose="020F0502020204030204" pitchFamily="34" charset="0"/>
                <a:cs typeface="Lucida Sans Unicode" panose="020B0602030504020204" pitchFamily="34" charset="0"/>
              </a:rPr>
            </a:fld>
            <a:endParaRPr lang="en-GB" altLang="x-none" sz="1200" dirty="0">
              <a:solidFill>
                <a:srgbClr val="000000"/>
              </a:solidFill>
              <a:latin typeface="Calibri" panose="020F0502020204030204" pitchFamily="34" charset="0"/>
              <a:ea typeface="Lucida Sans Unicode" panose="020B0602030504020204" pitchFamily="34" charset="0"/>
              <a:cs typeface="Lucida Sans Unicode" panose="020B0602030504020204" pitchFamily="34" charset="0"/>
            </a:endParaRPr>
          </a:p>
        </p:txBody>
      </p:sp>
      <p:sp>
        <p:nvSpPr>
          <p:cNvPr id="35844" name="Rectangle 2"/>
          <p:cNvSpPr>
            <a:spLocks noGrp="1" noRot="1" noChangeAspect="1" noTextEdit="1"/>
          </p:cNvSpPr>
          <p:nvPr>
            <p:ph type="sldImg"/>
          </p:nvPr>
        </p:nvSpPr>
        <p:spPr>
          <a:xfrm>
            <a:off x="1144588" y="685800"/>
            <a:ext cx="4570412" cy="3429000"/>
          </a:xfrm>
          <a:ln>
            <a:solidFill>
              <a:srgbClr val="000000">
                <a:alpha val="100000"/>
              </a:srgbClr>
            </a:solidFill>
            <a:miter lim="800000"/>
          </a:ln>
        </p:spPr>
      </p:sp>
      <p:sp>
        <p:nvSpPr>
          <p:cNvPr id="35845" name="Text Box 3"/>
          <p:cNvSpPr txBox="1"/>
          <p:nvPr/>
        </p:nvSpPr>
        <p:spPr>
          <a:xfrm>
            <a:off x="914400" y="4343400"/>
            <a:ext cx="5029200" cy="4114800"/>
          </a:xfrm>
          <a:prstGeom prst="rect">
            <a:avLst/>
          </a:prstGeom>
          <a:noFill/>
          <a:ln w="9525">
            <a:noFill/>
          </a:ln>
        </p:spPr>
        <p:txBody>
          <a:bodyPr wrap="none" lIns="86493" tIns="43247" rIns="86493" bIns="43247" anchor="ctr" anchorCtr="0"/>
          <a:p>
            <a:pPr lvl="0" eaLnBrk="1" hangingPunct="1"/>
            <a:endParaRPr lang="en-IN" altLang="x-none" dirty="0">
              <a:latin typeface="Calibri" panose="020F0502020204030204" pitchFamily="34" charset="0"/>
              <a:ea typeface="Lucida Sans Unicode" panose="020B0602030504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Slide Image Placeholder 1"/>
          <p:cNvSpPr>
            <a:spLocks noGrp="1" noRot="1" noChangeAspect="1" noTextEdit="1"/>
          </p:cNvSpPr>
          <p:nvPr>
            <p:ph type="sldImg"/>
          </p:nvPr>
        </p:nvSpPr>
        <p:spPr>
          <a:ln>
            <a:solidFill>
              <a:srgbClr val="000000">
                <a:alpha val="100000"/>
              </a:srgbClr>
            </a:solidFill>
            <a:miter lim="800000"/>
          </a:ln>
        </p:spPr>
      </p:sp>
      <p:sp>
        <p:nvSpPr>
          <p:cNvPr id="56323" name="Notes Placeholder 2"/>
          <p:cNvSpPr>
            <a:spLocks noGrp="1"/>
          </p:cNvSpPr>
          <p:nvPr>
            <p:ph type="body" idx="1"/>
          </p:nvPr>
        </p:nvSpPr>
        <p:spPr>
          <a:noFill/>
          <a:ln>
            <a:noFill/>
          </a:ln>
        </p:spPr>
        <p:txBody>
          <a:bodyPr wrap="square" lIns="91440" tIns="45720" rIns="91440" bIns="45720" anchor="t" anchorCtr="0"/>
          <a:p>
            <a:pPr lvl="0" eaLnBrk="1" hangingPunct="1"/>
            <a:endParaRPr dirty="0"/>
          </a:p>
        </p:txBody>
      </p:sp>
      <p:sp>
        <p:nvSpPr>
          <p:cNvPr id="5632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4" name="Date Placeholder 29"/>
          <p:cNvSpPr>
            <a:spLocks noGrp="1"/>
          </p:cNvSpPr>
          <p:nvPr>
            <p:ph type="dt" sz="half" idx="2"/>
          </p:nvPr>
        </p:nvSpPr>
        <p:spPr>
          <a:xfrm>
            <a:off x="457200" y="6356350"/>
            <a:ext cx="2133600" cy="365125"/>
          </a:xfrm>
          <a:prstGeom prst="rect">
            <a:avLst/>
          </a:prstGeom>
        </p:spPr>
        <p:txBody>
          <a:bodyPr vert="horz" lIns="0" tIns="0" rIns="0" bIns="0"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2D969CA-4650-4736-AB39-C1B480F1B2CB}"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15" name="Footer Placeholder 18"/>
          <p:cNvSpPr>
            <a:spLocks noGrp="1"/>
          </p:cNvSpPr>
          <p:nvPr>
            <p:ph type="ftr" sz="quarter" idx="3"/>
          </p:nvPr>
        </p:nvSpPr>
        <p:spPr>
          <a:xfrm>
            <a:off x="2667000" y="6356350"/>
            <a:ext cx="3352800" cy="365125"/>
          </a:xfrm>
          <a:prstGeom prst="rect">
            <a:avLst/>
          </a:prstGeom>
        </p:spPr>
        <p:txBody>
          <a:bodyPr vert="horz" lIns="0" tIns="0" rIns="0" bIns="0"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16" name="Slide Number Placeholder 26"/>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7AA28F-A269-4FB6-B67E-29638D83F009}" type="slidenum">
              <a:rPr kumimoji="0" lang="en-US" sz="1200" b="0" i="0" u="none" strike="noStrike" kern="1200" cap="none" spc="0" normalizeH="0" baseline="0" noProof="0">
                <a:ln>
                  <a:noFill/>
                </a:ln>
                <a:solidFill>
                  <a:srgbClr val="D1EAEE"/>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D1EAEE"/>
              </a:solidFill>
              <a:effectLst/>
              <a:uLnTx/>
              <a:uFillTx/>
              <a:latin typeface="Constantia" panose="02030602050306030303" pitchFamily="18" charset="0"/>
              <a:ea typeface="+mn-ea"/>
              <a:cs typeface="Arial" panose="020B0604020202020204" pitchFamily="34" charset="0"/>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14" name="Date Placeholder 3"/>
          <p:cNvSpPr>
            <a:spLocks noGrp="1"/>
          </p:cNvSpPr>
          <p:nvPr>
            <p:ph type="dt" sz="half" idx="2"/>
          </p:nvPr>
        </p:nvSpPr>
        <p:spPr>
          <a:xfrm>
            <a:off x="457200" y="6356350"/>
            <a:ext cx="2133600" cy="365125"/>
          </a:xfrm>
          <a:prstGeom prst="rect">
            <a:avLst/>
          </a:prstGeom>
        </p:spPr>
        <p:txBody>
          <a:bodyPr vert="horz" lIns="0" tIns="0" rIns="0" bIns="0"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BF227352-26A6-4D15-928A-2921738A140D}"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15" name="Footer Placeholder 4"/>
          <p:cNvSpPr>
            <a:spLocks noGrp="1"/>
          </p:cNvSpPr>
          <p:nvPr>
            <p:ph type="ftr" sz="quarter" idx="3"/>
          </p:nvPr>
        </p:nvSpPr>
        <p:spPr>
          <a:xfrm>
            <a:off x="2667000" y="6356350"/>
            <a:ext cx="3352800" cy="365125"/>
          </a:xfrm>
          <a:prstGeom prst="rect">
            <a:avLst/>
          </a:prstGeom>
        </p:spPr>
        <p:txBody>
          <a:bodyPr vert="horz" lIns="0" tIns="0" rIns="0" bIns="0"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16" name="Slide Number Placeholder 5"/>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C407433-62E1-4BDE-8A88-8AB9377CDF11}" type="slidenum">
              <a:rPr kumimoji="0" lang="en-US" sz="1200" b="0" i="0" u="none" strike="noStrike" kern="1200" cap="none" spc="0" normalizeH="0" baseline="0" noProof="0">
                <a:ln>
                  <a:noFill/>
                </a:ln>
                <a:solidFill>
                  <a:srgbClr val="D1EAEE"/>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D1EAEE"/>
              </a:solidFill>
              <a:effectLst/>
              <a:uLnTx/>
              <a:uFillTx/>
              <a:latin typeface="Constantia" panose="02030602050306030303" pitchFamily="18" charset="0"/>
              <a:ea typeface="+mn-ea"/>
              <a:cs typeface="Arial" panose="020B0604020202020204" pitchFamily="34" charset="0"/>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endParaRPr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4" name="Snip and Round Single Corner Rectangle 13"/>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ight Triangle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Freeform 15"/>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7" name="Freeform 16"/>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9" name="Date Placeholder 4"/>
          <p:cNvSpPr>
            <a:spLocks noGrp="1"/>
          </p:cNvSpPr>
          <p:nvPr>
            <p:ph type="dt" sz="half" idx="12"/>
          </p:nvPr>
        </p:nvSpPr>
        <p:spPr>
          <a:xfrm>
            <a:off x="457200" y="6356350"/>
            <a:ext cx="2133600" cy="365125"/>
          </a:xfrm>
          <a:prstGeom prst="rect">
            <a:avLst/>
          </a:prstGeom>
        </p:spPr>
        <p:txBody>
          <a:bodyPr vert="horz" lIns="0" tIns="0" rIns="0" bIns="0"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2983FDDB-110E-4AFE-A6EC-3A806713FF7E}"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20" name="Footer Placeholder 5"/>
          <p:cNvSpPr>
            <a:spLocks noGrp="1"/>
          </p:cNvSpPr>
          <p:nvPr>
            <p:ph type="ftr" sz="quarter" idx="3"/>
          </p:nvPr>
        </p:nvSpPr>
        <p:spPr>
          <a:xfrm>
            <a:off x="2667000" y="6356350"/>
            <a:ext cx="3352800" cy="365125"/>
          </a:xfrm>
          <a:prstGeom prst="rect">
            <a:avLst/>
          </a:prstGeom>
        </p:spPr>
        <p:txBody>
          <a:bodyPr vert="horz" lIns="0" tIns="0" rIns="0" bIns="0" anchor="b"/>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21" name="Slide Number Placeholder 6"/>
          <p:cNvSpPr>
            <a:spLocks noGrp="1"/>
          </p:cNvSpPr>
          <p:nvPr>
            <p:ph type="sldNum" sz="quarter" idx="4"/>
          </p:nvPr>
        </p:nvSpPr>
        <p:spPr>
          <a:xfrm>
            <a:off x="8077200" y="6356350"/>
            <a:ext cx="609600" cy="365125"/>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5BE726B-A43E-4602-9D4A-E59F938EC84B}"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p:sp>
        <p:nvSpPr>
          <p:cNvPr id="7" name="Freeform 6"/>
          <p:cNvSpPr/>
          <p:nvPr/>
        </p:nvSpPr>
        <p:spPr bwMode="auto">
          <a:xfrm>
            <a:off x="-9525" y="-7937"/>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7"/>
          <p:cNvSpPr/>
          <p:nvPr/>
        </p:nvSpPr>
        <p:spPr bwMode="auto">
          <a:xfrm>
            <a:off x="4381500" y="-7937"/>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028" name="Title Placeholder 8"/>
          <p:cNvSpPr>
            <a:spLocks noGrp="1"/>
          </p:cNvSpPr>
          <p:nvPr>
            <p:ph type="title"/>
          </p:nvPr>
        </p:nvSpPr>
        <p:spPr>
          <a:xfrm>
            <a:off x="457200" y="704850"/>
            <a:ext cx="8229600" cy="1143000"/>
          </a:xfrm>
          <a:prstGeom prst="rect">
            <a:avLst/>
          </a:prstGeom>
          <a:noFill/>
          <a:ln w="9525">
            <a:noFill/>
          </a:ln>
        </p:spPr>
        <p:txBody>
          <a:bodyPr lIns="0" rIns="0" bIns="0" anchor="b" anchorCtr="0"/>
          <a:p>
            <a:pPr lvl="0"/>
            <a:r>
              <a:rPr dirty="0"/>
              <a:t>Click to edit Master title style</a:t>
            </a:r>
            <a:endParaRPr dirty="0"/>
          </a:p>
        </p:txBody>
      </p:sp>
      <p:sp>
        <p:nvSpPr>
          <p:cNvPr id="1029" name="Text Placeholder 29"/>
          <p:cNvSpPr>
            <a:spLocks noGrp="1"/>
          </p:cNvSpPr>
          <p:nvPr>
            <p:ph type="body" idx="1"/>
          </p:nvPr>
        </p:nvSpPr>
        <p:spPr>
          <a:xfrm>
            <a:off x="457200" y="1935163"/>
            <a:ext cx="8229600" cy="4389437"/>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F248A82A-8482-48EB-B519-CB6D59957205}" type="datetime1">
              <a:rPr kumimoji="0" lang="en-US" sz="1200" b="0" i="0" u="none" strike="noStrike" kern="1200" cap="none" spc="0" normalizeH="0" baseline="0" noProof="0">
                <a:ln>
                  <a:noFill/>
                </a:ln>
                <a:solidFill>
                  <a:schemeClr val="tx2">
                    <a:shade val="90000"/>
                  </a:schemeClr>
                </a:solidFill>
                <a:effectLst/>
                <a:uLnTx/>
                <a:uFillTx/>
                <a:latin typeface="+mn-lt"/>
                <a:ea typeface="+mn-ea"/>
                <a:cs typeface="+mn-cs"/>
              </a:rPr>
            </a:fld>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a:solidFill>
                  <a:srgbClr val="045C75"/>
                </a:solidFill>
                <a:latin typeface="Constantia" panose="02030602050306030303"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DF3DCC8-4DF8-49D3-9529-ED6DC0EACC83}" type="slidenum">
              <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rPr>
            </a:fld>
            <a:endParaRPr kumimoji="0" lang="en-US" sz="1200" b="0" i="0" u="none" strike="noStrike" kern="1200" cap="none" spc="0" normalizeH="0" baseline="0" noProof="0">
              <a:ln>
                <a:noFill/>
              </a:ln>
              <a:solidFill>
                <a:srgbClr val="045C75"/>
              </a:solidFill>
              <a:effectLst/>
              <a:uLnTx/>
              <a:uFillTx/>
              <a:latin typeface="Constantia" panose="02030602050306030303" pitchFamily="18" charset="0"/>
              <a:ea typeface="+mn-ea"/>
              <a:cs typeface="Arial" panose="020B0604020202020204" pitchFamily="34" charset="0"/>
            </a:endParaRPr>
          </a:p>
        </p:txBody>
      </p:sp>
      <p:grpSp>
        <p:nvGrpSpPr>
          <p:cNvPr id="1033" name="Group 1"/>
          <p:cNvGrpSpPr/>
          <p:nvPr/>
        </p:nvGrpSpPr>
        <p:grpSpPr>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defRPr>
      </a:lvl2pPr>
      <a:lvl3pPr algn="l" rtl="0" eaLnBrk="0" fontAlgn="base" hangingPunct="0">
        <a:spcBef>
          <a:spcPct val="0"/>
        </a:spcBef>
        <a:spcAft>
          <a:spcPct val="0"/>
        </a:spcAft>
        <a:defRPr sz="5000">
          <a:solidFill>
            <a:schemeClr val="tx2"/>
          </a:solidFill>
          <a:latin typeface="Calibri" panose="020F0502020204030204" pitchFamily="34" charset="0"/>
        </a:defRPr>
      </a:lvl3pPr>
      <a:lvl4pPr algn="l" rtl="0" eaLnBrk="0" fontAlgn="base" hangingPunct="0">
        <a:spcBef>
          <a:spcPct val="0"/>
        </a:spcBef>
        <a:spcAft>
          <a:spcPct val="0"/>
        </a:spcAft>
        <a:defRPr sz="5000">
          <a:solidFill>
            <a:schemeClr val="tx2"/>
          </a:solidFill>
          <a:latin typeface="Calibri" panose="020F0502020204030204" pitchFamily="34" charset="0"/>
        </a:defRPr>
      </a:lvl4pPr>
      <a:lvl5pPr algn="l" rtl="0" eaLnBrk="0" fontAlgn="base" hangingPunct="0">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hyperlink" Target="https://www.geeksforgeeks.org/wp-content/uploads/gq/2016/01/Allocation.png" TargetMode="Externa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bwMode="auto">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r" defTabSz="914400" rtl="0" eaLnBrk="1" fontAlgn="auto" latinLnBrk="0" hangingPunct="1">
              <a:lnSpc>
                <a:spcPct val="100000"/>
              </a:lnSpc>
              <a:spcBef>
                <a:spcPct val="0"/>
              </a:spcBef>
              <a:spcAft>
                <a:spcPts val="0"/>
              </a:spcAft>
              <a:buClrTx/>
              <a:buSzTx/>
              <a:buFontTx/>
              <a:buNone/>
              <a:defRPr/>
            </a:pPr>
            <a:r>
              <a:rPr kumimoji="0" lang="en-US" sz="56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mj-lt"/>
                <a:ea typeface="+mj-ea"/>
                <a:cs typeface="+mj-cs"/>
              </a:rPr>
              <a:t>Deadlock</a:t>
            </a:r>
            <a:endParaRPr kumimoji="0" lang="en-US" sz="5600" b="1" i="0" u="none" strike="noStrike" kern="1200" cap="none" spc="0" normalizeH="0" baseline="0" noProof="0" dirty="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mj-lt"/>
              <a:ea typeface="+mj-ea"/>
              <a:cs typeface="+mj-cs"/>
            </a:endParaRPr>
          </a:p>
        </p:txBody>
      </p:sp>
      <p:sp>
        <p:nvSpPr>
          <p:cNvPr id="6147" name="Subtitle 2"/>
          <p:cNvSpPr>
            <a:spLocks noGrp="1"/>
          </p:cNvSpPr>
          <p:nvPr>
            <p:ph type="subTitle" idx="1"/>
          </p:nvPr>
        </p:nvSpPr>
        <p:spPr>
          <a:xfrm>
            <a:off x="533400" y="3228975"/>
            <a:ext cx="7854950" cy="1752600"/>
          </a:xfrm>
          <a:ln/>
        </p:spPr>
        <p:txBody>
          <a:bodyPr vert="horz" wrap="square" lIns="0" tIns="45720" rIns="18288" bIns="45720" anchor="t" anchorCtr="0"/>
          <a:p>
            <a:pPr marR="0" eaLnBrk="1" hangingPunct="1">
              <a:buClr>
                <a:srgbClr val="0BD0D9"/>
              </a:buClr>
              <a:buSzPct val="95000"/>
            </a:pPr>
            <a:endParaRPr kern="1200"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ln/>
        </p:spPr>
        <p:txBody>
          <a:bodyPr vert="horz" wrap="square" lIns="0" tIns="45720" rIns="0" bIns="0" anchor="b" anchorCtr="0"/>
          <a:p>
            <a:pPr eaLnBrk="1" hangingPunct="1"/>
            <a:r>
              <a:rPr dirty="0"/>
              <a:t>The deadlock problem</a:t>
            </a:r>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800" b="1" i="1" u="none" strike="noStrike" kern="1200" cap="none" spc="0" normalizeH="0" baseline="0" noProof="0" dirty="0" smtClean="0">
                <a:ln>
                  <a:noFill/>
                </a:ln>
                <a:solidFill>
                  <a:schemeClr val="tx1"/>
                </a:solidFill>
                <a:effectLst/>
                <a:uLnTx/>
                <a:uFillTx/>
                <a:latin typeface="+mn-lt"/>
                <a:ea typeface="+mn-ea"/>
                <a:cs typeface="+mn-cs"/>
              </a:rPr>
              <a:t>Deadlock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is a situation where a set of processes are blocked because each process is holding a resource and waiting for another resource acquired by some other process.</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Consider an example when two trains are coming toward each other on same track and there is only one track, none of the trains can move once they are in front of each other.</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Similar situation occurs in operating systems when there are two or more processes hold some resources and wait for resources held by other. </a:t>
            </a:r>
            <a:endPar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a:ln/>
        </p:spPr>
        <p:txBody>
          <a:bodyPr vert="horz" wrap="square" lIns="0" tIns="45720" rIns="0" bIns="0" anchor="b" anchorCtr="0"/>
          <a:p>
            <a:pPr eaLnBrk="1" hangingPunct="1"/>
            <a:endParaRPr dirty="0"/>
          </a:p>
        </p:txBody>
      </p:sp>
      <p:sp>
        <p:nvSpPr>
          <p:cNvPr id="8195" name="Content Placeholder 2"/>
          <p:cNvSpPr>
            <a:spLocks noGrp="1"/>
          </p:cNvSpPr>
          <p:nvPr>
            <p:ph idx="1"/>
          </p:nvPr>
        </p:nvSpPr>
        <p:spPr>
          <a:ln/>
        </p:spPr>
        <p:txBody>
          <a:bodyPr vert="horz" wrap="square" lIns="91440" tIns="45720" rIns="91440" bIns="45720" anchor="t" anchorCtr="0"/>
          <a:p>
            <a:pPr eaLnBrk="1" hangingPunct="1"/>
            <a:r>
              <a:rPr sz="2400" dirty="0"/>
              <a:t>For example, in the below diagram, Process 1 is holding Resource 1 and waiting for resource 2 which is acquired by process 2, and process 2 is waiting for resource 1.</a:t>
            </a:r>
            <a:endParaRPr dirty="0"/>
          </a:p>
        </p:txBody>
      </p:sp>
      <p:pic>
        <p:nvPicPr>
          <p:cNvPr id="8196" name="Picture 2" descr="C:\Users\ASHU\Desktop\deadlock.png"/>
          <p:cNvPicPr>
            <a:picLocks noChangeAspect="1"/>
          </p:cNvPicPr>
          <p:nvPr/>
        </p:nvPicPr>
        <p:blipFill>
          <a:blip r:embed="rId1"/>
          <a:stretch>
            <a:fillRect/>
          </a:stretch>
        </p:blipFill>
        <p:spPr>
          <a:xfrm>
            <a:off x="1676400" y="3048000"/>
            <a:ext cx="5286375" cy="35147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itle 1"/>
          <p:cNvSpPr>
            <a:spLocks noGrp="1"/>
          </p:cNvSpPr>
          <p:nvPr>
            <p:ph type="title"/>
          </p:nvPr>
        </p:nvSpPr>
        <p:spPr>
          <a:ln/>
        </p:spPr>
        <p:txBody>
          <a:bodyPr vert="horz" wrap="square" lIns="0" tIns="45720" rIns="0" bIns="0" anchor="b" anchorCtr="0"/>
          <a:p>
            <a:pPr eaLnBrk="1" hangingPunct="1"/>
            <a:r>
              <a:rPr dirty="0"/>
              <a:t>Deadlock characterization</a:t>
            </a:r>
            <a:endParaRPr dirty="0"/>
          </a:p>
        </p:txBody>
      </p:sp>
      <p:sp>
        <p:nvSpPr>
          <p:cNvPr id="9219" name="Content Placeholder 2"/>
          <p:cNvSpPr>
            <a:spLocks noGrp="1"/>
          </p:cNvSpPr>
          <p:nvPr>
            <p:ph idx="1"/>
          </p:nvPr>
        </p:nvSpPr>
        <p:spPr>
          <a:ln/>
        </p:spPr>
        <p:txBody>
          <a:bodyPr vert="horz" wrap="square" lIns="91440" tIns="45720" rIns="91440" bIns="45720" anchor="t" anchorCtr="0"/>
          <a:p>
            <a:pPr eaLnBrk="1" hangingPunct="1"/>
            <a:r>
              <a:rPr b="1" dirty="0"/>
              <a:t>Deadlock can arise if following four conditions hold simultaneously  </a:t>
            </a:r>
            <a:endParaRPr b="1" dirty="0"/>
          </a:p>
          <a:p>
            <a:pPr lvl="1" eaLnBrk="1" hangingPunct="1"/>
            <a:r>
              <a:rPr b="1" i="1" dirty="0"/>
              <a:t>Mutual Exclusion:</a:t>
            </a:r>
            <a:r>
              <a:rPr dirty="0"/>
              <a:t> One or more than one resource are non-sharable (Only one process can use at a time)</a:t>
            </a:r>
            <a:endParaRPr dirty="0"/>
          </a:p>
          <a:p>
            <a:pPr lvl="1" eaLnBrk="1" hangingPunct="1"/>
            <a:r>
              <a:rPr b="1" i="1" dirty="0"/>
              <a:t>Hold and Wait:</a:t>
            </a:r>
            <a:r>
              <a:rPr i="1" dirty="0"/>
              <a:t> </a:t>
            </a:r>
            <a:r>
              <a:rPr dirty="0"/>
              <a:t>A process is holding at least one resource and waiting for resources.</a:t>
            </a:r>
            <a:endParaRPr dirty="0"/>
          </a:p>
          <a:p>
            <a:pPr lvl="1" eaLnBrk="1" hangingPunct="1"/>
            <a:r>
              <a:rPr b="1" i="1" dirty="0"/>
              <a:t>No Preemption:</a:t>
            </a:r>
            <a:r>
              <a:rPr dirty="0"/>
              <a:t> A resource cannot be taken from a process unless the process releases the resource.</a:t>
            </a:r>
            <a:endParaRPr dirty="0"/>
          </a:p>
          <a:p>
            <a:pPr lvl="1" eaLnBrk="1" hangingPunct="1"/>
            <a:r>
              <a:rPr b="1" i="1" dirty="0"/>
              <a:t>Circular Wait:</a:t>
            </a:r>
            <a:r>
              <a:rPr dirty="0"/>
              <a:t> A set of processes are waiting for each other in circular form.</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7429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Methods for handling deadlocks</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10243" name="Content Placeholder 2"/>
          <p:cNvSpPr>
            <a:spLocks noGrp="1"/>
          </p:cNvSpPr>
          <p:nvPr>
            <p:ph idx="1"/>
          </p:nvPr>
        </p:nvSpPr>
        <p:spPr>
          <a:xfrm>
            <a:off x="457200" y="1524000"/>
            <a:ext cx="8229600" cy="4800600"/>
          </a:xfrm>
          <a:ln/>
        </p:spPr>
        <p:txBody>
          <a:bodyPr vert="horz" wrap="square" lIns="91440" tIns="45720" rIns="91440" bIns="45720" anchor="t" anchorCtr="0"/>
          <a:p>
            <a:pPr marL="339725" indent="-339725" defTabSz="914400" eaLnBrk="1" hangingPunct="1">
              <a:spcBef>
                <a:spcPts val="700"/>
              </a:spcBef>
              <a:buClr>
                <a:srgbClr val="993300"/>
              </a:buClr>
              <a:buSzPct val="9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sz="2400" b="1" dirty="0"/>
              <a:t>Prevention </a:t>
            </a:r>
            <a:r>
              <a:rPr lang="en-GB" altLang="x-none" sz="2400" dirty="0"/>
              <a:t>  </a:t>
            </a:r>
            <a:endParaRPr lang="en-GB" altLang="x-none" sz="2400" dirty="0"/>
          </a:p>
          <a:p>
            <a:pPr marL="739775" lvl="1" indent="-282575" defTabSz="914400" eaLnBrk="1" hangingPunct="1">
              <a:spcBef>
                <a:spcPts val="700"/>
              </a:spcBef>
              <a:buClr>
                <a:srgbClr val="CC6600"/>
              </a:buClr>
              <a:buSzPct val="8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dirty="0"/>
              <a:t>Ensure that the system will </a:t>
            </a:r>
            <a:r>
              <a:rPr lang="en-GB" altLang="x-none" i="1" dirty="0"/>
              <a:t>never</a:t>
            </a:r>
            <a:r>
              <a:rPr lang="en-GB" altLang="x-none" dirty="0"/>
              <a:t> enter a deadlock state</a:t>
            </a:r>
            <a:endParaRPr lang="en-GB" altLang="x-none" dirty="0"/>
          </a:p>
          <a:p>
            <a:pPr marL="339725" indent="-339725" defTabSz="914400" eaLnBrk="1" hangingPunct="1">
              <a:spcBef>
                <a:spcPts val="700"/>
              </a:spcBef>
              <a:buClr>
                <a:srgbClr val="993300"/>
              </a:buClr>
              <a:buSzPct val="9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sz="2400" b="1" dirty="0"/>
              <a:t>Avoidance</a:t>
            </a:r>
            <a:endParaRPr lang="en-GB" altLang="x-none" sz="2400" b="1" dirty="0"/>
          </a:p>
          <a:p>
            <a:pPr marL="739775" lvl="1" indent="-282575" defTabSz="914400" eaLnBrk="1" hangingPunct="1">
              <a:spcBef>
                <a:spcPts val="700"/>
              </a:spcBef>
              <a:buClr>
                <a:srgbClr val="CC6600"/>
              </a:buClr>
              <a:buSzPct val="8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dirty="0"/>
              <a:t>Ensure that the system will </a:t>
            </a:r>
            <a:r>
              <a:rPr lang="en-GB" altLang="x-none" i="1" dirty="0"/>
              <a:t>never</a:t>
            </a:r>
            <a:r>
              <a:rPr lang="en-GB" altLang="x-none" dirty="0"/>
              <a:t> enter an unsafe state</a:t>
            </a:r>
            <a:endParaRPr lang="en-GB" altLang="x-none" dirty="0"/>
          </a:p>
          <a:p>
            <a:pPr marL="339725" indent="-339725" defTabSz="914400" eaLnBrk="1" hangingPunct="1">
              <a:spcBef>
                <a:spcPts val="700"/>
              </a:spcBef>
              <a:buClr>
                <a:srgbClr val="993300"/>
              </a:buClr>
              <a:buSzPct val="9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sz="2400" b="1" dirty="0"/>
              <a:t>Detection</a:t>
            </a:r>
            <a:r>
              <a:rPr lang="en-GB" altLang="x-none" sz="2400" dirty="0"/>
              <a:t> </a:t>
            </a:r>
            <a:endParaRPr lang="en-GB" altLang="x-none" sz="2400" dirty="0"/>
          </a:p>
          <a:p>
            <a:pPr marL="739775" lvl="1" indent="-282575" defTabSz="914400" eaLnBrk="1" hangingPunct="1">
              <a:spcBef>
                <a:spcPts val="700"/>
              </a:spcBef>
              <a:buClr>
                <a:srgbClr val="CC6600"/>
              </a:buClr>
              <a:buSzPct val="8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dirty="0"/>
              <a:t>Allow the system to enter a deadlock state and then recover</a:t>
            </a:r>
            <a:endParaRPr lang="en-GB" altLang="x-none" dirty="0"/>
          </a:p>
          <a:p>
            <a:pPr marL="339725" indent="-339725" defTabSz="914400" eaLnBrk="1" hangingPunct="1">
              <a:spcBef>
                <a:spcPts val="700"/>
              </a:spcBef>
              <a:buClr>
                <a:srgbClr val="993300"/>
              </a:buClr>
              <a:buSzPct val="9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sz="2400" b="1" dirty="0"/>
              <a:t>Do Nothing</a:t>
            </a:r>
            <a:r>
              <a:rPr lang="en-GB" altLang="x-none" sz="2400" dirty="0"/>
              <a:t>  </a:t>
            </a:r>
            <a:endParaRPr lang="en-GB" altLang="x-none" sz="2400" dirty="0"/>
          </a:p>
          <a:p>
            <a:pPr marL="739775" lvl="1" indent="-282575" defTabSz="914400" eaLnBrk="1" hangingPunct="1">
              <a:spcBef>
                <a:spcPts val="700"/>
              </a:spcBef>
              <a:buClr>
                <a:srgbClr val="CC6600"/>
              </a:buClr>
              <a:buSzPct val="80000"/>
              <a:buFont typeface="Monotype Sorts"/>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altLang="x-none" dirty="0"/>
              <a:t>Ignore the problem and let the user or system administrator respond to the problem; used by most operating systems, including Windows and UNIX</a:t>
            </a:r>
            <a:endParaRPr lang="en-GB" altLang="x-non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12763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Deadlock Prevention</a:t>
            </a:r>
            <a:br>
              <a:rPr kumimoji="0" lang="en-US" sz="5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11267" name="Content Placeholder 2"/>
          <p:cNvSpPr>
            <a:spLocks noGrp="1"/>
          </p:cNvSpPr>
          <p:nvPr>
            <p:ph idx="1"/>
          </p:nvPr>
        </p:nvSpPr>
        <p:spPr>
          <a:xfrm>
            <a:off x="457200" y="1676400"/>
            <a:ext cx="8229600" cy="4648200"/>
          </a:xfrm>
          <a:ln/>
        </p:spPr>
        <p:txBody>
          <a:bodyPr vert="horz" wrap="square" lIns="91440" tIns="45720" rIns="91440" bIns="45720" anchor="t" anchorCtr="0"/>
          <a:p>
            <a:pPr eaLnBrk="1" hangingPunct="1"/>
            <a:r>
              <a:rPr dirty="0"/>
              <a:t>If we can be able to violate one of the four necessary conditions and don't let them occur together then we can prevent the deadlock.</a:t>
            </a:r>
            <a:endParaRPr dirty="0"/>
          </a:p>
          <a:p>
            <a:pPr eaLnBrk="1" hangingPunct="1"/>
            <a:r>
              <a:rPr dirty="0"/>
              <a:t>Let's see how we can prevent each of the conditions:</a:t>
            </a:r>
            <a:endParaRPr dirty="0"/>
          </a:p>
          <a:p>
            <a:pPr eaLnBrk="1" hangingPunct="1"/>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itle 1"/>
          <p:cNvSpPr>
            <a:spLocks noGrp="1"/>
          </p:cNvSpPr>
          <p:nvPr>
            <p:ph type="title"/>
          </p:nvPr>
        </p:nvSpPr>
        <p:spPr>
          <a:ln/>
        </p:spPr>
        <p:txBody>
          <a:bodyPr vert="horz" wrap="square" lIns="0" tIns="45720" rIns="0" bIns="0" anchor="b" anchorCtr="0"/>
          <a:p>
            <a:pPr eaLnBrk="1" hangingPunct="1"/>
            <a:endParaRPr dirty="0"/>
          </a:p>
        </p:txBody>
      </p:sp>
      <p:sp>
        <p:nvSpPr>
          <p:cNvPr id="12291" name="Content Placeholder 2"/>
          <p:cNvSpPr>
            <a:spLocks noGrp="1"/>
          </p:cNvSpPr>
          <p:nvPr>
            <p:ph idx="1"/>
          </p:nvPr>
        </p:nvSpPr>
        <p:spPr>
          <a:ln/>
        </p:spPr>
        <p:txBody>
          <a:bodyPr vert="horz" wrap="square" lIns="91440" tIns="45720" rIns="91440" bIns="45720" anchor="t" anchorCtr="0"/>
          <a:p>
            <a:pPr eaLnBrk="1" hangingPunct="1"/>
            <a:r>
              <a:rPr dirty="0"/>
              <a:t> </a:t>
            </a:r>
            <a:r>
              <a:rPr b="1" dirty="0"/>
              <a:t>Mutual Exclusion</a:t>
            </a:r>
            <a:endParaRPr b="1" dirty="0"/>
          </a:p>
          <a:p>
            <a:pPr lvl="1" eaLnBrk="1" hangingPunct="1"/>
            <a:r>
              <a:rPr dirty="0"/>
              <a:t>Mutual section from the resource point of view is the fact that a resource can never be used by more than one process simultaneously which is fair enough but that is the main reason behind the deadlock. If a resource could have been used by more than one process at the same time then the process would have never been waiting for any resource.</a:t>
            </a:r>
            <a:endParaRPr dirty="0"/>
          </a:p>
          <a:p>
            <a:pPr lvl="1" eaLnBrk="1" hangingPunct="1"/>
            <a:r>
              <a:rPr dirty="0"/>
              <a:t>However, if we will be able to violate resources behaving in the mutually exclusive manner then the deadlock can be prevented.</a:t>
            </a:r>
            <a:endParaRPr dirty="0"/>
          </a:p>
          <a:p>
            <a:pPr eaLnBrk="1" hangingPunct="1"/>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4381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533400" y="1219200"/>
            <a:ext cx="8229600" cy="3657600"/>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Spooling</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For a device like printer, spooling can work. There is a memory associated with the printer which stores jobs from each of the process into it.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Later, Printer collects all the jobs and print each one of them according to FCFS.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By using this mechanism, the process doesn't have to wait for the printer and it can continue whatever it was doing. </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Later, it collects the output when it is produced.</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3316" name="Picture 2" descr="C:\Users\ASHU\Desktop\os-deadlock-prevention-spooling.png"/>
          <p:cNvPicPr>
            <a:picLocks noChangeAspect="1"/>
          </p:cNvPicPr>
          <p:nvPr/>
        </p:nvPicPr>
        <p:blipFill>
          <a:blip r:embed="rId1"/>
          <a:stretch>
            <a:fillRect/>
          </a:stretch>
        </p:blipFill>
        <p:spPr>
          <a:xfrm>
            <a:off x="2895600" y="4562475"/>
            <a:ext cx="3057525" cy="22955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ln/>
        </p:spPr>
        <p:txBody>
          <a:bodyPr vert="horz" wrap="square" lIns="0" tIns="45720" rIns="0" bIns="0" anchor="b" anchorCtr="0"/>
          <a:p>
            <a:pPr eaLnBrk="1" hangingPunct="1"/>
            <a:endParaRPr dirty="0"/>
          </a:p>
        </p:txBody>
      </p:sp>
      <p:sp>
        <p:nvSpPr>
          <p:cNvPr id="14339" name="Content Placeholder 2"/>
          <p:cNvSpPr>
            <a:spLocks noGrp="1"/>
          </p:cNvSpPr>
          <p:nvPr>
            <p:ph idx="1"/>
          </p:nvPr>
        </p:nvSpPr>
        <p:spPr>
          <a:ln/>
        </p:spPr>
        <p:txBody>
          <a:bodyPr vert="horz" wrap="square" lIns="91440" tIns="45720" rIns="91440" bIns="45720" anchor="t" anchorCtr="0"/>
          <a:p>
            <a:pPr eaLnBrk="1" hangingPunct="1"/>
            <a:r>
              <a:rPr b="1" dirty="0"/>
              <a:t>Hold and wait</a:t>
            </a:r>
            <a:endParaRPr b="1" dirty="0"/>
          </a:p>
          <a:p>
            <a:pPr lvl="1" eaLnBrk="1" hangingPunct="1"/>
            <a:r>
              <a:rPr lang="en-GB" altLang="x-none" sz="2200" dirty="0">
                <a:solidFill>
                  <a:srgbClr val="000000"/>
                </a:solidFill>
              </a:rPr>
              <a:t>we must guarantee that whenever a process requests a resource, it does not hold any other resources</a:t>
            </a:r>
            <a:endParaRPr lang="en-GB" altLang="x-none" sz="2200" dirty="0">
              <a:solidFill>
                <a:srgbClr val="000000"/>
              </a:solidFill>
            </a:endParaRPr>
          </a:p>
          <a:p>
            <a:pPr lvl="1" eaLnBrk="1" hangingPunct="1"/>
            <a:r>
              <a:rPr lang="en-GB" altLang="x-none" sz="2200" dirty="0">
                <a:solidFill>
                  <a:srgbClr val="000000"/>
                </a:solidFill>
              </a:rPr>
              <a:t>Require a process to request and be allocated all its resources before it begins execution, or allow a process to request resources only when the process has none</a:t>
            </a:r>
            <a:endParaRPr lang="en-GB" altLang="x-none" sz="2200" dirty="0">
              <a:solidFill>
                <a:srgbClr val="000000"/>
              </a:solidFill>
            </a:endParaRPr>
          </a:p>
          <a:p>
            <a:pPr lvl="1" eaLnBrk="1" hangingPunct="1"/>
            <a:r>
              <a:rPr lang="en-GB" altLang="x-none" sz="2200" dirty="0">
                <a:solidFill>
                  <a:srgbClr val="000000"/>
                </a:solidFill>
              </a:rPr>
              <a:t>Result: Low resource utilization; starvation possible</a:t>
            </a:r>
            <a:endParaRPr lang="en-GB" altLang="x-none" sz="2200" dirty="0">
              <a:solidFill>
                <a:srgbClr val="000000"/>
              </a:solidFill>
            </a:endParaRPr>
          </a:p>
          <a:p>
            <a:pPr lvl="1" eaLnBrk="1" hangingPunct="1"/>
            <a:endParaRPr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p:cNvSpPr>
          <p:nvPr>
            <p:ph type="title"/>
          </p:nvPr>
        </p:nvSpPr>
        <p:spPr>
          <a:ln/>
        </p:spPr>
        <p:txBody>
          <a:bodyPr vert="horz" wrap="square" lIns="0" tIns="45720" rIns="0" bIns="0" anchor="b" anchorCtr="0"/>
          <a:p>
            <a:pPr eaLnBrk="1" hangingPunct="1"/>
            <a:endParaRPr dirty="0"/>
          </a:p>
        </p:txBody>
      </p:sp>
      <p:sp>
        <p:nvSpPr>
          <p:cNvPr id="15363" name="Content Placeholder 2"/>
          <p:cNvSpPr>
            <a:spLocks noGrp="1"/>
          </p:cNvSpPr>
          <p:nvPr>
            <p:ph idx="1"/>
          </p:nvPr>
        </p:nvSpPr>
        <p:spPr>
          <a:ln/>
        </p:spPr>
        <p:txBody>
          <a:bodyPr vert="horz" wrap="square" lIns="91440" tIns="45720" rIns="91440" bIns="45720" anchor="t" anchorCtr="0"/>
          <a:p>
            <a:pPr eaLnBrk="1" hangingPunct="1"/>
            <a:r>
              <a:rPr b="1" dirty="0"/>
              <a:t>No preemption</a:t>
            </a:r>
            <a:endParaRPr b="1" dirty="0"/>
          </a:p>
          <a:p>
            <a:pPr marL="739775" lvl="1" indent="-282575" eaLnBrk="1" hangingPunct="1">
              <a:spcBef>
                <a:spcPts val="700"/>
              </a:spcBef>
              <a:buClr>
                <a:srgbClr val="CC6600"/>
              </a:buClr>
              <a:buSzPct val="80000"/>
              <a:buFont typeface="Monotype Sorts"/>
              <a:buChar char=""/>
            </a:pPr>
            <a:r>
              <a:rPr lang="en-GB" altLang="x-none" dirty="0">
                <a:solidFill>
                  <a:srgbClr val="000000"/>
                </a:solidFill>
              </a:rPr>
              <a:t>If a process that is holding some resources requests another resource that cannot be immediately allocated to it, then all resources currently being held are released</a:t>
            </a:r>
            <a:endParaRPr lang="en-GB" altLang="x-none" dirty="0">
              <a:solidFill>
                <a:srgbClr val="000000"/>
              </a:solidFill>
            </a:endParaRPr>
          </a:p>
          <a:p>
            <a:pPr marL="739775" lvl="1" indent="-282575" eaLnBrk="1" hangingPunct="1">
              <a:spcBef>
                <a:spcPts val="700"/>
              </a:spcBef>
              <a:buClr>
                <a:srgbClr val="CC6600"/>
              </a:buClr>
              <a:buSzPct val="80000"/>
              <a:buFont typeface="Monotype Sorts"/>
              <a:buChar char=""/>
            </a:pPr>
            <a:r>
              <a:rPr lang="en-GB" altLang="x-none" dirty="0">
                <a:solidFill>
                  <a:srgbClr val="000000"/>
                </a:solidFill>
              </a:rPr>
              <a:t>Preempted resources are added to the list of resources for which the process is waiting</a:t>
            </a:r>
            <a:endParaRPr lang="en-GB" altLang="x-none" dirty="0">
              <a:solidFill>
                <a:srgbClr val="000000"/>
              </a:solidFill>
            </a:endParaRPr>
          </a:p>
          <a:p>
            <a:pPr marL="739775" lvl="1" indent="-282575" eaLnBrk="1" hangingPunct="1">
              <a:spcBef>
                <a:spcPts val="700"/>
              </a:spcBef>
              <a:buClr>
                <a:srgbClr val="CC6600"/>
              </a:buClr>
              <a:buSzPct val="80000"/>
              <a:buFont typeface="Monotype Sorts"/>
              <a:buChar char=""/>
            </a:pPr>
            <a:r>
              <a:rPr lang="en-GB" altLang="x-none" dirty="0">
                <a:solidFill>
                  <a:srgbClr val="000000"/>
                </a:solidFill>
              </a:rPr>
              <a:t>A process will be restarted only when it can regain its old resources, as well as the new ones that it is requesting</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a:ln/>
        </p:spPr>
        <p:txBody>
          <a:bodyPr vert="horz" wrap="square" lIns="0" tIns="45720" rIns="0" bIns="0" anchor="b" anchorCtr="0"/>
          <a:p>
            <a:pPr eaLnBrk="1" hangingPunct="1"/>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Circular Wait</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To violate circular wait, we can assign a priority number to each of the resource. A process can't request for a lesser priority resource. This ensures that not a single process can request a resource which is being utilized by some other process and no cycle will be formed.</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base"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Each resource will be assigned with a numerical number. A process can request for the resources only in increasing order of numbering.</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For Example, if P1 process is allocated R5 resources, now next time if P1 ask for R4, R3 lesser than R5 such request will not be granted, only request for resources more than R5 will be granted.</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a:ln/>
        </p:spPr>
        <p:txBody>
          <a:bodyPr vert="horz" wrap="square" lIns="0" tIns="45720" rIns="0" bIns="0" anchor="b" anchorCtr="0"/>
          <a:p>
            <a:pPr eaLnBrk="1" hangingPunct="1"/>
            <a:r>
              <a:rPr b="1" dirty="0"/>
              <a:t>Deadlock Avoidance</a:t>
            </a:r>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fontScale="850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In deadlock avoidance, the request for any resource will be granted if the resulting state of the system doesn't cause deadlock in the system.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state of the system will continuously be checked for safe and unsafe states.</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In order to avoid deadlocks, the process must tell OS, the maximum number of resources a process can request to complete its execution.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simplest and most useful approach states that the process should declare the maximum number of resources of each type it may ever need. </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Deadlock avoidance algorithm examines the resource allocations so that there can never be a circular wait condition.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1"/>
          <p:cNvSpPr>
            <a:spLocks noGrp="1"/>
          </p:cNvSpPr>
          <p:nvPr>
            <p:ph type="title"/>
          </p:nvPr>
        </p:nvSpPr>
        <p:spPr>
          <a:ln/>
        </p:spPr>
        <p:txBody>
          <a:bodyPr vert="horz" wrap="square" lIns="0" tIns="45720" rIns="0" bIns="0" anchor="b" anchorCtr="0"/>
          <a:p>
            <a:pPr eaLnBrk="1" hangingPunct="1"/>
            <a:endParaRPr dirty="0"/>
          </a:p>
        </p:txBody>
      </p:sp>
      <p:sp>
        <p:nvSpPr>
          <p:cNvPr id="3" name="Content Placeholder 2"/>
          <p:cNvSpPr>
            <a:spLocks noGrp="1"/>
          </p:cNvSpPr>
          <p:nvPr>
            <p:ph idx="1"/>
          </p:nvPr>
        </p:nvSpPr>
        <p:spPr>
          <a:xfrm>
            <a:off x="228600" y="1935163"/>
            <a:ext cx="8686800" cy="4922838"/>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Safe state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705485" marR="0" lvl="1"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When a process requests an available resource, the system must decide if immediate allocation leaves the system in a safe state</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705485" marR="0" lvl="1"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A system is in a safe state only if there exists a safe sequence</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705485" marR="0" lvl="1"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A sequence of processes &lt;</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smtClean="0">
                <a:ln>
                  <a:noFill/>
                </a:ln>
                <a:solidFill>
                  <a:srgbClr val="000000"/>
                </a:solidFill>
                <a:effectLst/>
                <a:uLnTx/>
                <a:uFillTx/>
                <a:latin typeface="+mn-lt"/>
                <a:ea typeface="+mn-ea"/>
                <a:cs typeface="+mn-cs"/>
              </a:rPr>
              <a:t>1</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 P</a:t>
            </a:r>
            <a:r>
              <a:rPr kumimoji="0" lang="en-GB" sz="2200" b="0" i="1" u="none" strike="noStrike" kern="1200" cap="none" spc="0" normalizeH="0" baseline="-25000" noProof="0" dirty="0" smtClean="0">
                <a:ln>
                  <a:noFill/>
                </a:ln>
                <a:solidFill>
                  <a:srgbClr val="000000"/>
                </a:solidFill>
                <a:effectLst/>
                <a:uLnTx/>
                <a:uFillTx/>
                <a:latin typeface="+mn-lt"/>
                <a:ea typeface="+mn-ea"/>
                <a:cs typeface="+mn-cs"/>
              </a:rPr>
              <a:t>2</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 …, </a:t>
            </a:r>
            <a:r>
              <a:rPr kumimoji="0" lang="en-GB" sz="2200" b="0" i="1" u="none" strike="noStrike" kern="1200" cap="none" spc="0" normalizeH="0" baseline="0" noProof="0" dirty="0" err="1"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err="1" smtClean="0">
                <a:ln>
                  <a:noFill/>
                </a:ln>
                <a:solidFill>
                  <a:srgbClr val="000000"/>
                </a:solidFill>
                <a:effectLst/>
                <a:uLnTx/>
                <a:uFillTx/>
                <a:latin typeface="+mn-lt"/>
                <a:ea typeface="+mn-ea"/>
                <a:cs typeface="+mn-cs"/>
              </a:rPr>
              <a:t>n</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&gt; is a safe sequence for the current allocation state if, for each P</a:t>
            </a:r>
            <a:r>
              <a:rPr kumimoji="0" lang="en-GB" sz="2200" b="0" i="0" u="none" strike="noStrike" kern="1200" cap="none" spc="0" normalizeH="0" baseline="-25000" noProof="0" dirty="0" smtClean="0">
                <a:ln>
                  <a:noFill/>
                </a:ln>
                <a:solidFill>
                  <a:srgbClr val="000000"/>
                </a:solidFill>
                <a:effectLst/>
                <a:uLnTx/>
                <a:uFillTx/>
                <a:latin typeface="+mn-lt"/>
                <a:ea typeface="+mn-ea"/>
                <a:cs typeface="+mn-cs"/>
              </a:rPr>
              <a:t>i</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the resource requests that P</a:t>
            </a:r>
            <a:r>
              <a:rPr kumimoji="0" lang="en-GB" sz="2200" b="0" i="0" u="none" strike="noStrike" kern="1200" cap="none" spc="0" normalizeH="0" baseline="-25000" noProof="0" dirty="0" smtClean="0">
                <a:ln>
                  <a:noFill/>
                </a:ln>
                <a:solidFill>
                  <a:srgbClr val="000000"/>
                </a:solidFill>
                <a:effectLst/>
                <a:uLnTx/>
                <a:uFillTx/>
                <a:latin typeface="+mn-lt"/>
                <a:ea typeface="+mn-ea"/>
                <a:cs typeface="+mn-cs"/>
              </a:rPr>
              <a:t>i </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can still make, can be satisfied by currently available resources plus resources held by all </a:t>
            </a:r>
            <a:r>
              <a:rPr kumimoji="0" lang="en-GB" sz="2200" b="0" i="1" u="none" strike="noStrike" kern="1200" cap="none" spc="0" normalizeH="0" baseline="0" noProof="0" dirty="0" err="1"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err="1" smtClean="0">
                <a:ln>
                  <a:noFill/>
                </a:ln>
                <a:solidFill>
                  <a:srgbClr val="000000"/>
                </a:solidFill>
                <a:effectLst/>
                <a:uLnTx/>
                <a:uFillTx/>
                <a:latin typeface="+mn-lt"/>
                <a:ea typeface="+mn-ea"/>
                <a:cs typeface="+mn-cs"/>
              </a:rPr>
              <a:t>j</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with</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 j </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&lt; </a:t>
            </a:r>
            <a:r>
              <a:rPr kumimoji="0" lang="en-GB" sz="2200" b="0" i="1" u="none" strike="noStrike" kern="1200" cap="none" spc="0" normalizeH="0" baseline="0" noProof="0" dirty="0" err="1" smtClean="0">
                <a:ln>
                  <a:noFill/>
                </a:ln>
                <a:solidFill>
                  <a:srgbClr val="000000"/>
                </a:solidFill>
                <a:effectLst/>
                <a:uLnTx/>
                <a:uFillTx/>
                <a:latin typeface="+mn-lt"/>
                <a:ea typeface="+mn-ea"/>
                <a:cs typeface="+mn-cs"/>
              </a:rPr>
              <a:t>i</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705485" marR="0" lvl="1"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That is:</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1014095" marR="0" lvl="2" indent="-282575" algn="l" defTabSz="914400" rtl="0" eaLnBrk="1" fontAlgn="auto" latinLnBrk="0" hangingPunct="1">
              <a:lnSpc>
                <a:spcPct val="100000"/>
              </a:lnSpc>
              <a:spcBef>
                <a:spcPts val="700"/>
              </a:spcBef>
              <a:spcAft>
                <a:spcPts val="0"/>
              </a:spcAft>
              <a:buClr>
                <a:srgbClr val="CC6600"/>
              </a:buClr>
              <a:buSzPct val="8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If the P</a:t>
            </a:r>
            <a:r>
              <a:rPr kumimoji="0" lang="en-GB" sz="2200" b="0" i="0" u="none" strike="noStrike" kern="1200" cap="none" spc="0" normalizeH="0" baseline="-25000" noProof="0" dirty="0" smtClean="0">
                <a:ln>
                  <a:noFill/>
                </a:ln>
                <a:solidFill>
                  <a:srgbClr val="000000"/>
                </a:solidFill>
                <a:effectLst/>
                <a:uLnTx/>
                <a:uFillTx/>
                <a:latin typeface="+mn-lt"/>
                <a:ea typeface="+mn-ea"/>
                <a:cs typeface="+mn-cs"/>
              </a:rPr>
              <a:t>i</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resource needs are not immediately available, then </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smtClean="0">
                <a:ln>
                  <a:noFill/>
                </a:ln>
                <a:solidFill>
                  <a:srgbClr val="000000"/>
                </a:solidFill>
                <a:effectLst/>
                <a:uLnTx/>
                <a:uFillTx/>
                <a:latin typeface="+mn-lt"/>
                <a:ea typeface="+mn-ea"/>
                <a:cs typeface="+mn-cs"/>
              </a:rPr>
              <a:t>i</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can wait until all </a:t>
            </a:r>
            <a:r>
              <a:rPr kumimoji="0" lang="en-GB" sz="2200" b="0" i="1" u="none" strike="noStrike" kern="1200" cap="none" spc="0" normalizeH="0" baseline="0" noProof="0" dirty="0" err="1"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err="1" smtClean="0">
                <a:ln>
                  <a:noFill/>
                </a:ln>
                <a:solidFill>
                  <a:srgbClr val="000000"/>
                </a:solidFill>
                <a:effectLst/>
                <a:uLnTx/>
                <a:uFillTx/>
                <a:latin typeface="+mn-lt"/>
                <a:ea typeface="+mn-ea"/>
                <a:cs typeface="+mn-cs"/>
              </a:rPr>
              <a:t>j</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 </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have finished</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1014095" marR="0" lvl="2" indent="-282575" algn="l" defTabSz="914400" rtl="0" eaLnBrk="1" fontAlgn="auto" latinLnBrk="0" hangingPunct="1">
              <a:lnSpc>
                <a:spcPct val="100000"/>
              </a:lnSpc>
              <a:spcBef>
                <a:spcPts val="700"/>
              </a:spcBef>
              <a:spcAft>
                <a:spcPts val="0"/>
              </a:spcAft>
              <a:buClr>
                <a:srgbClr val="CC6600"/>
              </a:buClr>
              <a:buSzPct val="8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When </a:t>
            </a:r>
            <a:r>
              <a:rPr kumimoji="0" lang="en-GB" sz="2200" b="0" i="1" u="none" strike="noStrike" kern="1200" cap="none" spc="0" normalizeH="0" baseline="0" noProof="0" dirty="0" err="1"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err="1" smtClean="0">
                <a:ln>
                  <a:noFill/>
                </a:ln>
                <a:solidFill>
                  <a:srgbClr val="000000"/>
                </a:solidFill>
                <a:effectLst/>
                <a:uLnTx/>
                <a:uFillTx/>
                <a:latin typeface="+mn-lt"/>
                <a:ea typeface="+mn-ea"/>
                <a:cs typeface="+mn-cs"/>
              </a:rPr>
              <a:t>j</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is finished, </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smtClean="0">
                <a:ln>
                  <a:noFill/>
                </a:ln>
                <a:solidFill>
                  <a:srgbClr val="000000"/>
                </a:solidFill>
                <a:effectLst/>
                <a:uLnTx/>
                <a:uFillTx/>
                <a:latin typeface="+mn-lt"/>
                <a:ea typeface="+mn-ea"/>
                <a:cs typeface="+mn-cs"/>
              </a:rPr>
              <a:t>i</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can obtain needed resources, execute, return allocated resources, and terminate </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1014095" marR="0" lvl="2" indent="-282575" algn="l" defTabSz="914400" rtl="0" eaLnBrk="1" fontAlgn="auto" latinLnBrk="0" hangingPunct="1">
              <a:lnSpc>
                <a:spcPct val="100000"/>
              </a:lnSpc>
              <a:spcBef>
                <a:spcPts val="700"/>
              </a:spcBef>
              <a:spcAft>
                <a:spcPts val="0"/>
              </a:spcAft>
              <a:buClr>
                <a:srgbClr val="CC6600"/>
              </a:buClr>
              <a:buSzPct val="8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200" b="0" i="0" u="none" strike="noStrike" kern="1200" cap="none" spc="0" normalizeH="0" baseline="0" noProof="0" dirty="0" smtClean="0">
                <a:ln>
                  <a:noFill/>
                </a:ln>
                <a:solidFill>
                  <a:srgbClr val="000000"/>
                </a:solidFill>
                <a:effectLst/>
                <a:uLnTx/>
                <a:uFillTx/>
                <a:latin typeface="+mn-lt"/>
                <a:ea typeface="+mn-ea"/>
                <a:cs typeface="+mn-cs"/>
              </a:rPr>
              <a:t>When </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smtClean="0">
                <a:ln>
                  <a:noFill/>
                </a:ln>
                <a:solidFill>
                  <a:srgbClr val="000000"/>
                </a:solidFill>
                <a:effectLst/>
                <a:uLnTx/>
                <a:uFillTx/>
                <a:latin typeface="+mn-lt"/>
                <a:ea typeface="+mn-ea"/>
                <a:cs typeface="+mn-cs"/>
              </a:rPr>
              <a:t>i</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terminates, </a:t>
            </a:r>
            <a:r>
              <a:rPr kumimoji="0" lang="en-GB" sz="2200" b="0" i="1" u="none" strike="noStrike" kern="1200" cap="none" spc="0" normalizeH="0" baseline="0" noProof="0" dirty="0" smtClean="0">
                <a:ln>
                  <a:noFill/>
                </a:ln>
                <a:solidFill>
                  <a:srgbClr val="000000"/>
                </a:solidFill>
                <a:effectLst/>
                <a:uLnTx/>
                <a:uFillTx/>
                <a:latin typeface="+mn-lt"/>
                <a:ea typeface="+mn-ea"/>
                <a:cs typeface="+mn-cs"/>
              </a:rPr>
              <a:t>P</a:t>
            </a:r>
            <a:r>
              <a:rPr kumimoji="0" lang="en-GB" sz="2200" b="0" i="1" u="none" strike="noStrike" kern="1200" cap="none" spc="0" normalizeH="0" baseline="-25000" noProof="0" dirty="0" smtClean="0">
                <a:ln>
                  <a:noFill/>
                </a:ln>
                <a:solidFill>
                  <a:srgbClr val="000000"/>
                </a:solidFill>
                <a:effectLst/>
                <a:uLnTx/>
                <a:uFillTx/>
                <a:latin typeface="+mn-lt"/>
                <a:ea typeface="+mn-ea"/>
                <a:cs typeface="+mn-cs"/>
              </a:rPr>
              <a:t>i </a:t>
            </a:r>
            <a:r>
              <a:rPr kumimoji="0" lang="en-GB" sz="2200" b="0" i="0" u="none" strike="noStrike" kern="1200" cap="none" spc="0" normalizeH="0" baseline="-25000" noProof="0" dirty="0" smtClean="0">
                <a:ln>
                  <a:noFill/>
                </a:ln>
                <a:solidFill>
                  <a:srgbClr val="000000"/>
                </a:solidFill>
                <a:effectLst/>
                <a:uLnTx/>
                <a:uFillTx/>
                <a:latin typeface="+mn-lt"/>
                <a:ea typeface="+mn-ea"/>
                <a:cs typeface="+mn-cs"/>
              </a:rPr>
              <a:t>+1</a:t>
            </a:r>
            <a:r>
              <a:rPr kumimoji="0" lang="en-GB" sz="2200" b="0" i="0" u="none" strike="noStrike" kern="1200" cap="none" spc="0" normalizeH="0" baseline="0" noProof="0" dirty="0" smtClean="0">
                <a:ln>
                  <a:noFill/>
                </a:ln>
                <a:solidFill>
                  <a:srgbClr val="000000"/>
                </a:solidFill>
                <a:effectLst/>
                <a:uLnTx/>
                <a:uFillTx/>
                <a:latin typeface="+mn-lt"/>
                <a:ea typeface="+mn-ea"/>
                <a:cs typeface="+mn-cs"/>
              </a:rPr>
              <a:t> can obtain its needed resources, and so on </a:t>
            </a:r>
            <a:endParaRPr kumimoji="0" lang="en-GB" sz="2200" b="0" i="0" u="none" strike="noStrike" kern="1200" cap="none" spc="0" normalizeH="0" baseline="0" noProof="0" dirty="0" smtClean="0">
              <a:ln>
                <a:noFill/>
              </a:ln>
              <a:solidFill>
                <a:srgbClr val="000000"/>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ln/>
        </p:spPr>
        <p:txBody>
          <a:bodyPr vert="horz" wrap="square" lIns="0" tIns="45720" rIns="0" bIns="0" anchor="b" anchorCtr="0"/>
          <a:p>
            <a:pPr eaLnBrk="1" hangingPunct="1"/>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a:bodyPr>
          <a:lstStyle/>
          <a:p>
            <a:pPr marL="339725" marR="0" lvl="0"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 system is in </a:t>
            </a:r>
            <a:r>
              <a:rPr kumimoji="0" lang="en-GB" sz="28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safe</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state </a:t>
            </a:r>
            <a:r>
              <a:rPr kumimoji="0" lang="en-GB" sz="2800" b="0" i="0" u="none" strike="noStrike" kern="1200" cap="none" spc="0" normalizeH="0" baseline="0" noProof="0" dirty="0" smtClean="0">
                <a:ln>
                  <a:noFill/>
                </a:ln>
                <a:solidFill>
                  <a:srgbClr val="000000"/>
                </a:solidFill>
                <a:effectLst/>
                <a:uLnTx/>
                <a:uFillTx/>
                <a:latin typeface="Symbol" panose="05050102010706020507" pitchFamily="18" charset="2"/>
                <a:ea typeface="Symbol" panose="05050102010706020507" pitchFamily="18" charset="2"/>
                <a:cs typeface="Symbol" panose="05050102010706020507" pitchFamily="18" charset="2"/>
              </a:rPr>
              <a:t></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no deadlocks </a:t>
            </a:r>
            <a:b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br>
            <a:endPar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39725" marR="0" lvl="0"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 system is in </a:t>
            </a:r>
            <a:r>
              <a:rPr kumimoji="0" lang="en-GB" sz="28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unsafe</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state </a:t>
            </a:r>
            <a:r>
              <a:rPr kumimoji="0" lang="en-GB" sz="2800" b="0" i="0" u="none" strike="noStrike" kern="1200" cap="none" spc="0" normalizeH="0" baseline="0" noProof="0" dirty="0" smtClean="0">
                <a:ln>
                  <a:noFill/>
                </a:ln>
                <a:solidFill>
                  <a:srgbClr val="000000"/>
                </a:solidFill>
                <a:effectLst/>
                <a:uLnTx/>
                <a:uFillTx/>
                <a:latin typeface="Symbol" panose="05050102010706020507" pitchFamily="18" charset="2"/>
                <a:ea typeface="Symbol" panose="05050102010706020507" pitchFamily="18" charset="2"/>
                <a:cs typeface="Symbol" panose="05050102010706020507" pitchFamily="18" charset="2"/>
              </a:rPr>
              <a:t></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possibility of deadlock </a:t>
            </a:r>
            <a:b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br>
            <a:endPar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39725" marR="0" lvl="0"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Avoidance </a:t>
            </a:r>
            <a:r>
              <a:rPr kumimoji="0" lang="en-GB" sz="2800" b="0" i="0" u="none" strike="noStrike" kern="1200" cap="none" spc="0" normalizeH="0" baseline="0" noProof="0" dirty="0" smtClean="0">
                <a:ln>
                  <a:noFill/>
                </a:ln>
                <a:solidFill>
                  <a:srgbClr val="000000"/>
                </a:solidFill>
                <a:effectLst/>
                <a:uLnTx/>
                <a:uFillTx/>
                <a:latin typeface="Symbol" panose="05050102010706020507" pitchFamily="18" charset="2"/>
                <a:ea typeface="Symbol" panose="05050102010706020507" pitchFamily="18" charset="2"/>
                <a:cs typeface="Symbol" panose="05050102010706020507" pitchFamily="18" charset="2"/>
              </a:rPr>
              <a:t></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ensure that a system will </a:t>
            </a:r>
            <a:r>
              <a:rPr kumimoji="0" lang="en-GB" sz="28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never</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enter an </a:t>
            </a:r>
            <a:r>
              <a:rPr kumimoji="0" lang="en-GB" sz="28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unsafe</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state  </a:t>
            </a:r>
            <a:endPar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ln/>
        </p:spPr>
        <p:txBody>
          <a:bodyPr vert="horz" wrap="square" lIns="0" tIns="45720" rIns="0" bIns="0" anchor="b" anchorCtr="0"/>
          <a:p>
            <a:pPr eaLnBrk="1" hangingPunct="1"/>
            <a:r>
              <a:rPr dirty="0"/>
              <a:t>Safe, unsafe and deadlock state</a:t>
            </a:r>
            <a:endParaRPr dirty="0"/>
          </a:p>
        </p:txBody>
      </p:sp>
      <p:pic>
        <p:nvPicPr>
          <p:cNvPr id="20483" name="Picture 2"/>
          <p:cNvPicPr>
            <a:picLocks noGrp="1" noChangeAspect="1"/>
          </p:cNvPicPr>
          <p:nvPr>
            <p:ph idx="1"/>
          </p:nvPr>
        </p:nvPicPr>
        <p:blipFill>
          <a:blip r:embed="rId1"/>
          <a:srcRect l="13437" t="1569" r="13684" b="2194"/>
          <a:stretch>
            <a:fillRect/>
          </a:stretch>
        </p:blipFill>
        <p:spPr>
          <a:xfrm>
            <a:off x="2355850" y="1935163"/>
            <a:ext cx="4432300" cy="4389437"/>
          </a:xfrm>
          <a:ln w="38160" cap="sq">
            <a:solidFill>
              <a:srgbClr val="CC6600">
                <a:alpha val="100000"/>
              </a:srgbClr>
            </a:solidFill>
            <a:miter lim="800000"/>
            <a:headEnd/>
            <a:tailEnd type="triangle"/>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ln/>
        </p:spPr>
        <p:txBody>
          <a:bodyPr vert="horz" wrap="square" lIns="0" tIns="45720" rIns="0" bIns="0" anchor="b" anchorCtr="0"/>
          <a:p>
            <a:pPr eaLnBrk="1" hangingPunct="1"/>
            <a:r>
              <a:rPr dirty="0"/>
              <a:t>Avoidance algorithms</a:t>
            </a:r>
            <a:endParaRPr dirty="0"/>
          </a:p>
        </p:txBody>
      </p:sp>
      <p:sp>
        <p:nvSpPr>
          <p:cNvPr id="21507" name="Content Placeholder 2"/>
          <p:cNvSpPr>
            <a:spLocks noGrp="1"/>
          </p:cNvSpPr>
          <p:nvPr>
            <p:ph idx="1"/>
          </p:nvPr>
        </p:nvSpPr>
        <p:spPr>
          <a:ln/>
        </p:spPr>
        <p:txBody>
          <a:bodyPr vert="horz" wrap="square" lIns="91440" tIns="45720" rIns="91440" bIns="45720" anchor="t" anchorCtr="0"/>
          <a:p>
            <a:pPr eaLnBrk="1" hangingPunct="1"/>
            <a:r>
              <a:rPr dirty="0"/>
              <a:t>Resource allocation graph</a:t>
            </a:r>
            <a:endParaRPr dirty="0"/>
          </a:p>
          <a:p>
            <a:pPr eaLnBrk="1" hangingPunct="1"/>
            <a:r>
              <a:rPr dirty="0"/>
              <a:t>Banker’s algorithm</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Resource allocation graph</a:t>
            </a:r>
            <a:br>
              <a:rPr kumimoji="0" lang="en-US" sz="5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22531" name="Content Placeholder 2"/>
          <p:cNvSpPr>
            <a:spLocks noGrp="1"/>
          </p:cNvSpPr>
          <p:nvPr>
            <p:ph idx="1"/>
          </p:nvPr>
        </p:nvSpPr>
        <p:spPr>
          <a:xfrm>
            <a:off x="457200" y="1524000"/>
            <a:ext cx="8229600" cy="4800600"/>
          </a:xfrm>
          <a:ln/>
        </p:spPr>
        <p:txBody>
          <a:bodyPr vert="horz" wrap="square" lIns="91440" tIns="45720" rIns="91440" bIns="45720" anchor="t" anchorCtr="0"/>
          <a:p>
            <a:pPr eaLnBrk="1" hangingPunct="1"/>
            <a:r>
              <a:rPr dirty="0"/>
              <a:t>As its name suggests, the resource allocation graph is the complete information about all the processes which are holding some resources or waiting for some resources.</a:t>
            </a:r>
            <a:endParaRPr dirty="0"/>
          </a:p>
          <a:p>
            <a:pPr eaLnBrk="1" hangingPunct="1"/>
            <a:r>
              <a:rPr dirty="0"/>
              <a:t>It also contains the information about all the instances of all the resources whether they are available or being used by the processes.</a:t>
            </a:r>
            <a:endParaRPr dirty="0"/>
          </a:p>
          <a:p>
            <a:pPr eaLnBrk="1" hangingPunct="1"/>
            <a:r>
              <a:rPr dirty="0"/>
              <a:t>In Resource allocation graph, the process is represented by a Circle while the Resource is represented by a rectangle.</a:t>
            </a:r>
            <a:endParaRPr dirty="0"/>
          </a:p>
          <a:p>
            <a:pPr eaLnBrk="1" hangingPunct="1"/>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5905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457200" y="1371600"/>
            <a:ext cx="8229600" cy="2895600"/>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Vertices are mainly of two types, Resource and process. Each of them will be represented by a different shape. Circle represents process while rectangle represents resource.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A resource can have more than one instance. Each instance will be represented by a dot inside the rectangle.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pic>
        <p:nvPicPr>
          <p:cNvPr id="23556" name="Picture 2" descr="C:\Users\ASHU\Desktop\os-resource-allocation-graph.png"/>
          <p:cNvPicPr>
            <a:picLocks noChangeAspect="1"/>
          </p:cNvPicPr>
          <p:nvPr/>
        </p:nvPicPr>
        <p:blipFill>
          <a:blip r:embed="rId1"/>
          <a:stretch>
            <a:fillRect/>
          </a:stretch>
        </p:blipFill>
        <p:spPr>
          <a:xfrm>
            <a:off x="1828800" y="3733800"/>
            <a:ext cx="5645150" cy="31242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a:ln/>
        </p:spPr>
        <p:txBody>
          <a:bodyPr vert="horz" wrap="square" lIns="0" tIns="45720" rIns="0" bIns="0" anchor="b" anchorCtr="0"/>
          <a:p>
            <a:pPr eaLnBrk="1" hangingPunct="1"/>
            <a:endParaRPr dirty="0"/>
          </a:p>
        </p:txBody>
      </p:sp>
      <p:sp>
        <p:nvSpPr>
          <p:cNvPr id="24579" name="Content Placeholder 2"/>
          <p:cNvSpPr>
            <a:spLocks noGrp="1"/>
          </p:cNvSpPr>
          <p:nvPr>
            <p:ph idx="1"/>
          </p:nvPr>
        </p:nvSpPr>
        <p:spPr>
          <a:ln/>
        </p:spPr>
        <p:txBody>
          <a:bodyPr vert="horz" wrap="square" lIns="91440" tIns="45720" rIns="91440" bIns="45720" anchor="t" anchorCtr="0"/>
          <a:p>
            <a:pPr eaLnBrk="1" hangingPunct="1"/>
            <a:r>
              <a:rPr dirty="0"/>
              <a:t>Edges in RAG are also of two types, one represents assignment and other represents the wait of a process for a resource. </a:t>
            </a:r>
            <a:endParaRPr dirty="0"/>
          </a:p>
        </p:txBody>
      </p:sp>
      <p:pic>
        <p:nvPicPr>
          <p:cNvPr id="24580" name="Picture 2" descr="C:\Users\ASHU\Desktop\os-resource-allocation-graph2.png"/>
          <p:cNvPicPr>
            <a:picLocks noChangeAspect="1"/>
          </p:cNvPicPr>
          <p:nvPr/>
        </p:nvPicPr>
        <p:blipFill>
          <a:blip r:embed="rId1"/>
          <a:stretch>
            <a:fillRect/>
          </a:stretch>
        </p:blipFill>
        <p:spPr>
          <a:xfrm>
            <a:off x="1676400" y="3429000"/>
            <a:ext cx="1828800" cy="2581275"/>
          </a:xfrm>
          <a:prstGeom prst="rect">
            <a:avLst/>
          </a:prstGeom>
          <a:noFill/>
          <a:ln w="9525">
            <a:noFill/>
          </a:ln>
        </p:spPr>
      </p:pic>
      <p:pic>
        <p:nvPicPr>
          <p:cNvPr id="24581" name="Picture 3" descr="C:\Users\ASHU\Desktop\os-resource-allocation-graph3.png"/>
          <p:cNvPicPr>
            <a:picLocks noChangeAspect="1"/>
          </p:cNvPicPr>
          <p:nvPr/>
        </p:nvPicPr>
        <p:blipFill>
          <a:blip r:embed="rId2"/>
          <a:stretch>
            <a:fillRect/>
          </a:stretch>
        </p:blipFill>
        <p:spPr>
          <a:xfrm>
            <a:off x="5029200" y="3429000"/>
            <a:ext cx="1828800" cy="258127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4381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457200" y="1447800"/>
            <a:ext cx="8229600" cy="3048000"/>
          </a:xfrm>
        </p:spPr>
        <p:txBody>
          <a:bodyPr vert="horz" wrap="square" lIns="91440" tIns="45720" rIns="91440" bIns="45720" numCol="1" anchor="t" anchorCtr="0" compatLnSpc="1">
            <a:normAutofit fontScale="925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Example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Let's consider 3 processes P1, P2 and P3, and two types of resources R1 and R2. The resources are having 1 instance each.</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According to the graph, R1 is being used by P1, P2 is holding R2 and waiting for R1, P3 is waiting for R1 as well as R2.</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graph is deadlock free since no cycle is being formed in the graph.</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pic>
        <p:nvPicPr>
          <p:cNvPr id="25604" name="Picture 2" descr="C:\Users\ASHU\Desktop\os-resource-allocation-graph4.png"/>
          <p:cNvPicPr>
            <a:picLocks noChangeAspect="1"/>
          </p:cNvPicPr>
          <p:nvPr/>
        </p:nvPicPr>
        <p:blipFill>
          <a:blip r:embed="rId1"/>
          <a:stretch>
            <a:fillRect/>
          </a:stretch>
        </p:blipFill>
        <p:spPr>
          <a:xfrm>
            <a:off x="2895600" y="4038600"/>
            <a:ext cx="3276600" cy="2632075"/>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Deadlock Detection using RAG</a:t>
            </a:r>
            <a:br>
              <a:rPr kumimoji="0" lang="en-US" sz="5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457200" y="1219200"/>
            <a:ext cx="8229600" cy="3810000"/>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If a cycle is being formed in a Resource allocation graph where all the resources have the single instance then the system is deadlocked.</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following example contains three processes P1, P2, P3 and three resources R1, R2, R3. All the resources are having single instances each.</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If we analyze the graph then we can find out that there is a cycle formed in the graph since the system is satisfying all the four conditions of deadlock.</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pic>
        <p:nvPicPr>
          <p:cNvPr id="27652" name="Picture 2" descr="C:\Users\ASHU\Desktop\os-deadlock-detection-using-rag.png"/>
          <p:cNvPicPr>
            <a:picLocks noChangeAspect="1"/>
          </p:cNvPicPr>
          <p:nvPr/>
        </p:nvPicPr>
        <p:blipFill>
          <a:blip r:embed="rId1"/>
          <a:stretch>
            <a:fillRect/>
          </a:stretch>
        </p:blipFill>
        <p:spPr>
          <a:xfrm>
            <a:off x="2514600" y="4267200"/>
            <a:ext cx="3705225" cy="23050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ln/>
        </p:spPr>
        <p:txBody>
          <a:bodyPr vert="horz" wrap="square" lIns="0" tIns="45720" rIns="0" bIns="0" anchor="b" anchorCtr="0"/>
          <a:p>
            <a:pPr eaLnBrk="1" hangingPunct="1"/>
            <a:endParaRPr dirty="0"/>
          </a:p>
        </p:txBody>
      </p:sp>
      <p:sp>
        <p:nvSpPr>
          <p:cNvPr id="28675" name="Content Placeholder 2"/>
          <p:cNvSpPr>
            <a:spLocks noGrp="1"/>
          </p:cNvSpPr>
          <p:nvPr>
            <p:ph idx="1"/>
          </p:nvPr>
        </p:nvSpPr>
        <p:spPr>
          <a:ln/>
        </p:spPr>
        <p:txBody>
          <a:bodyPr vert="horz" wrap="square" lIns="91440" tIns="45720" rIns="91440" bIns="45720" anchor="t" anchorCtr="0"/>
          <a:p>
            <a:pPr eaLnBrk="1" hangingPunct="1"/>
            <a:r>
              <a:rPr b="1" dirty="0"/>
              <a:t>Allocation Matrix</a:t>
            </a:r>
            <a:endParaRPr b="1" dirty="0"/>
          </a:p>
          <a:p>
            <a:pPr lvl="1" eaLnBrk="1" hangingPunct="1"/>
            <a:r>
              <a:rPr dirty="0"/>
              <a:t>Allocation matrix can be formed by using the Resource allocation graph of a system. In Allocation matrix, an entry will be made for each of the resource assigned.</a:t>
            </a:r>
            <a:endParaRPr dirty="0"/>
          </a:p>
        </p:txBody>
      </p:sp>
      <p:pic>
        <p:nvPicPr>
          <p:cNvPr id="28676" name="Picture 2"/>
          <p:cNvPicPr>
            <a:picLocks noChangeAspect="1"/>
          </p:cNvPicPr>
          <p:nvPr/>
        </p:nvPicPr>
        <p:blipFill>
          <a:blip r:embed="rId1"/>
          <a:srcRect l="16985" t="51042" r="18008" b="25000"/>
          <a:stretch>
            <a:fillRect/>
          </a:stretch>
        </p:blipFill>
        <p:spPr>
          <a:xfrm>
            <a:off x="381000" y="3733800"/>
            <a:ext cx="8458200" cy="17526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6667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29699" name="Content Placeholder 2"/>
          <p:cNvSpPr>
            <a:spLocks noGrp="1"/>
          </p:cNvSpPr>
          <p:nvPr>
            <p:ph idx="1"/>
          </p:nvPr>
        </p:nvSpPr>
        <p:spPr>
          <a:xfrm>
            <a:off x="457200" y="1295400"/>
            <a:ext cx="8229600" cy="5029200"/>
          </a:xfrm>
          <a:ln/>
        </p:spPr>
        <p:txBody>
          <a:bodyPr vert="horz" wrap="square" lIns="91440" tIns="45720" rIns="91440" bIns="45720" anchor="t" anchorCtr="0"/>
          <a:p>
            <a:pPr eaLnBrk="1" hangingPunct="1"/>
            <a:r>
              <a:rPr b="1" dirty="0"/>
              <a:t>Request Matrix</a:t>
            </a:r>
            <a:endParaRPr b="1" dirty="0"/>
          </a:p>
          <a:p>
            <a:pPr lvl="1" eaLnBrk="1" hangingPunct="1"/>
            <a:r>
              <a:rPr dirty="0"/>
              <a:t>In request matrix, an entry will be made for each of the resource requested. </a:t>
            </a:r>
            <a:endParaRPr dirty="0"/>
          </a:p>
        </p:txBody>
      </p:sp>
      <p:pic>
        <p:nvPicPr>
          <p:cNvPr id="29700" name="Picture 2"/>
          <p:cNvPicPr>
            <a:picLocks noChangeAspect="1"/>
          </p:cNvPicPr>
          <p:nvPr/>
        </p:nvPicPr>
        <p:blipFill>
          <a:blip r:embed="rId1"/>
          <a:srcRect l="16985" t="53125" r="18008" b="22917"/>
          <a:stretch>
            <a:fillRect/>
          </a:stretch>
        </p:blipFill>
        <p:spPr>
          <a:xfrm>
            <a:off x="381000" y="2590800"/>
            <a:ext cx="8458200" cy="1752600"/>
          </a:xfrm>
          <a:prstGeom prst="rect">
            <a:avLst/>
          </a:prstGeom>
          <a:noFill/>
          <a:ln w="9525">
            <a:noFill/>
          </a:ln>
        </p:spPr>
      </p:pic>
      <p:sp>
        <p:nvSpPr>
          <p:cNvPr id="29701" name="Rectangle 4"/>
          <p:cNvSpPr/>
          <p:nvPr/>
        </p:nvSpPr>
        <p:spPr>
          <a:xfrm>
            <a:off x="457200" y="4495800"/>
            <a:ext cx="8382000" cy="2246313"/>
          </a:xfrm>
          <a:prstGeom prst="rect">
            <a:avLst/>
          </a:prstGeom>
          <a:noFill/>
          <a:ln w="9525">
            <a:noFill/>
          </a:ln>
        </p:spPr>
        <p:txBody>
          <a:bodyPr>
            <a:spAutoFit/>
          </a:bodyPr>
          <a:p>
            <a:pPr eaLnBrk="1" hangingPunct="1"/>
            <a:r>
              <a:rPr sz="2000" b="1" dirty="0">
                <a:latin typeface="Constantia" panose="02030602050306030303" pitchFamily="18" charset="0"/>
              </a:rPr>
              <a:t>Avial = (0,0,0)</a:t>
            </a:r>
            <a:endParaRPr sz="2000" b="1" dirty="0">
              <a:latin typeface="Constantia" panose="02030602050306030303" pitchFamily="18" charset="0"/>
            </a:endParaRPr>
          </a:p>
          <a:p>
            <a:pPr eaLnBrk="1" hangingPunct="1"/>
            <a:r>
              <a:rPr sz="2000" dirty="0">
                <a:latin typeface="Constantia" panose="02030602050306030303" pitchFamily="18" charset="0"/>
              </a:rPr>
              <a:t>Neither we are having any resource available in the system nor a process going to release. Each of the process needs at least single resource to complete therefore they will continuously be holding each one of them.</a:t>
            </a:r>
            <a:endParaRPr sz="2000" dirty="0">
              <a:latin typeface="Constantia" panose="02030602050306030303" pitchFamily="18" charset="0"/>
            </a:endParaRPr>
          </a:p>
          <a:p>
            <a:pPr eaLnBrk="1" hangingPunct="1"/>
            <a:r>
              <a:rPr sz="2000" dirty="0">
                <a:latin typeface="Constantia" panose="02030602050306030303" pitchFamily="18" charset="0"/>
              </a:rPr>
              <a:t>We cannot fulfill the demand of at least one process using the available resources therefore the system is deadlocked as determined earlier when we detected a cycle in the graph.</a:t>
            </a:r>
            <a:endParaRPr sz="2000" dirty="0">
              <a:latin typeface="Constantia" panose="020306020503060303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Text Box 1"/>
          <p:cNvSpPr txBox="1">
            <a:spLocks noChangeArrowheads="1"/>
          </p:cNvSpPr>
          <p:nvPr/>
        </p:nvSpPr>
        <p:spPr bwMode="auto">
          <a:xfrm>
            <a:off x="592138" y="506413"/>
            <a:ext cx="8077200" cy="609600"/>
          </a:xfrm>
          <a:prstGeom prst="rect">
            <a:avLst/>
          </a:prstGeom>
          <a:noFill/>
          <a:ln w="9525" cap="flat">
            <a:noFill/>
            <a:round/>
          </a:ln>
          <a:effectLst/>
        </p:spPr>
        <p:txBody>
          <a:bodyPr lIns="90000" tIns="46800" rIns="90000" bIns="46800" anchor="b"/>
          <a:p>
            <a:pPr algn="ctr" defTabSz="914400" eaLnBrk="1" hangingPunct="1">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sz="3200" b="1" dirty="0">
                <a:solidFill>
                  <a:srgbClr val="993300"/>
                </a:solidFill>
                <a:effectLst>
                  <a:outerShdw blurRad="38100" dist="38100" dir="2700000">
                    <a:srgbClr val="C0C0C0"/>
                  </a:outerShdw>
                </a:effectLst>
                <a:latin typeface="Arial" panose="020B0604020202020204" pitchFamily="34" charset="0"/>
              </a:rPr>
              <a:t>Resource-Allocation Graph (Cont.)</a:t>
            </a:r>
            <a:r>
              <a:rPr lang="ar-SA" altLang="x-none" sz="3200" b="1" dirty="0">
                <a:solidFill>
                  <a:srgbClr val="993300"/>
                </a:solidFill>
                <a:effectLst>
                  <a:outerShdw blurRad="38100" dist="38100" dir="2700000">
                    <a:srgbClr val="C0C0C0"/>
                  </a:outerShdw>
                </a:effectLst>
                <a:latin typeface="Arial" panose="020B0604020202020204" pitchFamily="34" charset="0"/>
              </a:rPr>
              <a:t>‏</a:t>
            </a:r>
            <a:endParaRPr sz="3200" b="1" dirty="0">
              <a:solidFill>
                <a:srgbClr val="993300"/>
              </a:solidFill>
              <a:effectLst>
                <a:outerShdw blurRad="38100" dist="38100" dir="2700000">
                  <a:srgbClr val="C0C0C0"/>
                </a:outerShdw>
              </a:effectLst>
              <a:latin typeface="Arial" panose="020B0604020202020204" pitchFamily="34" charset="0"/>
            </a:endParaRPr>
          </a:p>
        </p:txBody>
      </p:sp>
      <p:sp>
        <p:nvSpPr>
          <p:cNvPr id="34818" name="Text Box 2"/>
          <p:cNvSpPr txBox="1">
            <a:spLocks noChangeArrowheads="1"/>
          </p:cNvSpPr>
          <p:nvPr/>
        </p:nvSpPr>
        <p:spPr bwMode="auto">
          <a:xfrm>
            <a:off x="827088" y="1282700"/>
            <a:ext cx="7351713" cy="4432300"/>
          </a:xfrm>
          <a:prstGeom prst="rect">
            <a:avLst/>
          </a:prstGeom>
          <a:noFill/>
          <a:ln w="9525" cap="flat">
            <a:noFill/>
            <a:round/>
          </a:ln>
          <a:effectLst/>
        </p:spPr>
        <p:txBody>
          <a:bodyPr lIns="90000" tIns="46800" rIns="90000" bIns="46800"/>
          <a:lstStyle/>
          <a:p>
            <a:pPr marL="339725" marR="0" indent="-339725" defTabSz="914400" eaLnBrk="1" fontAlgn="auto" hangingPunct="1">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kern="1200" cap="none" spc="0" normalizeH="0" baseline="0" noProof="0">
                <a:solidFill>
                  <a:srgbClr val="000000"/>
                </a:solidFill>
                <a:latin typeface="Arial" panose="020B0604020202020204" pitchFamily="34" charset="0"/>
                <a:ea typeface="+mn-ea"/>
                <a:cs typeface="+mn-cs"/>
              </a:rPr>
              <a:t>Process</a:t>
            </a:r>
            <a:br>
              <a:rPr kumimoji="0" lang="en-GB" kern="1200" cap="none" spc="0" normalizeH="0" baseline="0" noProof="0">
                <a:solidFill>
                  <a:srgbClr val="000000"/>
                </a:solidFill>
                <a:latin typeface="Arial" panose="020B0604020202020204" pitchFamily="34" charset="0"/>
                <a:ea typeface="+mn-ea"/>
                <a:cs typeface="+mn-cs"/>
              </a:rPr>
            </a:br>
            <a:br>
              <a:rPr kumimoji="0" lang="en-GB" kern="1200" cap="none" spc="0" normalizeH="0" baseline="0" noProof="0">
                <a:solidFill>
                  <a:srgbClr val="000000"/>
                </a:solidFill>
                <a:latin typeface="Arial" panose="020B0604020202020204" pitchFamily="34" charset="0"/>
                <a:ea typeface="+mn-ea"/>
                <a:cs typeface="+mn-cs"/>
              </a:rPr>
            </a:br>
            <a:br>
              <a:rPr kumimoji="0" lang="en-GB" kern="1200" cap="none" spc="0" normalizeH="0" baseline="0" noProof="0">
                <a:solidFill>
                  <a:srgbClr val="000000"/>
                </a:solidFill>
                <a:latin typeface="Arial" panose="020B0604020202020204" pitchFamily="34" charset="0"/>
                <a:ea typeface="+mn-ea"/>
                <a:cs typeface="+mn-cs"/>
              </a:rPr>
            </a:br>
            <a:endParaRPr kumimoji="0" lang="en-GB" kern="1200" cap="none" spc="0" normalizeH="0" baseline="0" noProof="0">
              <a:solidFill>
                <a:srgbClr val="000000"/>
              </a:solidFill>
              <a:latin typeface="Arial" panose="020B0604020202020204" pitchFamily="34" charset="0"/>
              <a:ea typeface="+mn-ea"/>
              <a:cs typeface="+mn-cs"/>
            </a:endParaRPr>
          </a:p>
          <a:p>
            <a:pPr marL="339725" marR="0" indent="-339725" defTabSz="914400" eaLnBrk="1" fontAlgn="auto" hangingPunct="1">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kern="1200" cap="none" spc="0" normalizeH="0" baseline="0" noProof="0">
                <a:solidFill>
                  <a:srgbClr val="000000"/>
                </a:solidFill>
                <a:latin typeface="Arial" panose="020B0604020202020204" pitchFamily="34" charset="0"/>
                <a:ea typeface="+mn-ea"/>
                <a:cs typeface="+mn-cs"/>
              </a:rPr>
              <a:t>Resource Type with 4 instances</a:t>
            </a:r>
            <a:endParaRPr kumimoji="0" lang="en-GB" kern="1200" cap="none" spc="0" normalizeH="0" baseline="0" noProof="0">
              <a:solidFill>
                <a:srgbClr val="000000"/>
              </a:solidFill>
              <a:latin typeface="Arial" panose="020B0604020202020204" pitchFamily="34" charset="0"/>
              <a:ea typeface="+mn-ea"/>
              <a:cs typeface="+mn-cs"/>
            </a:endParaRPr>
          </a:p>
          <a:p>
            <a:pPr marL="341630" marR="0" indent="-339725" defTabSz="914400" eaLnBrk="1" fontAlgn="auto" hangingPunct="1">
              <a:spcBef>
                <a:spcPts val="790"/>
              </a:spcBef>
              <a:spcAft>
                <a:spcPts val="0"/>
              </a:spcAft>
              <a:buClrTx/>
              <a:buSzPct val="90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kumimoji="0" lang="en-GB" kern="1200" cap="none" spc="0" normalizeH="0" baseline="0" noProof="0">
              <a:solidFill>
                <a:srgbClr val="000000"/>
              </a:solidFill>
              <a:latin typeface="Arial" panose="020B0604020202020204" pitchFamily="34" charset="0"/>
              <a:ea typeface="+mn-ea"/>
              <a:cs typeface="+mn-cs"/>
            </a:endParaRPr>
          </a:p>
          <a:p>
            <a:pPr marL="341630" marR="0" indent="-339725" defTabSz="914400" eaLnBrk="1" fontAlgn="auto" hangingPunct="1">
              <a:spcBef>
                <a:spcPts val="790"/>
              </a:spcBef>
              <a:spcAft>
                <a:spcPts val="0"/>
              </a:spcAft>
              <a:buClrTx/>
              <a:buSzPct val="90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kumimoji="0" lang="en-GB" kern="1200" cap="none" spc="0" normalizeH="0" baseline="0" noProof="0">
              <a:solidFill>
                <a:srgbClr val="000000"/>
              </a:solidFill>
              <a:latin typeface="Arial" panose="020B0604020202020204" pitchFamily="34" charset="0"/>
              <a:ea typeface="+mn-ea"/>
              <a:cs typeface="+mn-cs"/>
            </a:endParaRPr>
          </a:p>
          <a:p>
            <a:pPr marL="339725" marR="0" indent="-339725" defTabSz="914400" eaLnBrk="1" fontAlgn="auto" hangingPunct="1">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i="1" kern="1200" cap="none" spc="0" normalizeH="0" baseline="0" noProof="0">
                <a:solidFill>
                  <a:srgbClr val="000000"/>
                </a:solidFill>
                <a:latin typeface="Arial" panose="020B0604020202020204" pitchFamily="34" charset="0"/>
                <a:ea typeface="+mn-ea"/>
                <a:cs typeface="+mn-cs"/>
              </a:rPr>
              <a:t>P</a:t>
            </a:r>
            <a:r>
              <a:rPr kumimoji="0" lang="en-GB" i="1" kern="1200" cap="none" spc="0" normalizeH="0" baseline="-25000" noProof="0">
                <a:solidFill>
                  <a:srgbClr val="000000"/>
                </a:solidFill>
                <a:latin typeface="Arial" panose="020B0604020202020204" pitchFamily="34" charset="0"/>
                <a:ea typeface="+mn-ea"/>
                <a:cs typeface="+mn-cs"/>
              </a:rPr>
              <a:t>i</a:t>
            </a:r>
            <a:r>
              <a:rPr kumimoji="0" lang="en-GB" i="1" kern="1200" cap="none" spc="0" normalizeH="0" baseline="0" noProof="0">
                <a:solidFill>
                  <a:srgbClr val="000000"/>
                </a:solidFill>
                <a:latin typeface="Arial" panose="020B0604020202020204" pitchFamily="34" charset="0"/>
                <a:ea typeface="+mn-ea"/>
                <a:cs typeface="+mn-cs"/>
              </a:rPr>
              <a:t> </a:t>
            </a:r>
            <a:r>
              <a:rPr kumimoji="0" lang="en-GB" kern="1200" cap="none" spc="0" normalizeH="0" baseline="0" noProof="0">
                <a:solidFill>
                  <a:srgbClr val="000000"/>
                </a:solidFill>
                <a:latin typeface="Arial" panose="020B0604020202020204" pitchFamily="34" charset="0"/>
                <a:ea typeface="+mn-ea"/>
                <a:cs typeface="+mn-cs"/>
              </a:rPr>
              <a:t>requests instance of </a:t>
            </a:r>
            <a:r>
              <a:rPr kumimoji="0" lang="en-GB" i="1" kern="1200" cap="none" spc="0" normalizeH="0" baseline="0" noProof="0">
                <a:solidFill>
                  <a:srgbClr val="000000"/>
                </a:solidFill>
                <a:latin typeface="Arial" panose="020B0604020202020204" pitchFamily="34" charset="0"/>
                <a:ea typeface="+mn-ea"/>
                <a:cs typeface="+mn-cs"/>
              </a:rPr>
              <a:t>R</a:t>
            </a:r>
            <a:r>
              <a:rPr kumimoji="0" lang="en-GB" i="1" kern="1200" cap="none" spc="0" normalizeH="0" baseline="-25000" noProof="0">
                <a:solidFill>
                  <a:srgbClr val="000000"/>
                </a:solidFill>
                <a:latin typeface="Arial" panose="020B0604020202020204" pitchFamily="34" charset="0"/>
                <a:ea typeface="+mn-ea"/>
                <a:cs typeface="+mn-cs"/>
              </a:rPr>
              <a:t>j</a:t>
            </a:r>
            <a:endParaRPr kumimoji="0" lang="en-GB" i="1" kern="1200" cap="none" spc="0" normalizeH="0" baseline="-25000" noProof="0">
              <a:solidFill>
                <a:srgbClr val="000000"/>
              </a:solidFill>
              <a:latin typeface="Arial" panose="020B0604020202020204" pitchFamily="34" charset="0"/>
              <a:ea typeface="+mn-ea"/>
              <a:cs typeface="+mn-cs"/>
            </a:endParaRPr>
          </a:p>
          <a:p>
            <a:pPr marL="341630" marR="0" indent="-339725" defTabSz="914400" eaLnBrk="1" fontAlgn="auto" hangingPunct="1">
              <a:spcBef>
                <a:spcPts val="790"/>
              </a:spcBef>
              <a:spcAft>
                <a:spcPts val="0"/>
              </a:spcAft>
              <a:buClrTx/>
              <a:buSzPct val="90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kumimoji="0" lang="en-GB" kern="1200" cap="none" spc="0" normalizeH="0" baseline="0" noProof="0">
              <a:solidFill>
                <a:srgbClr val="000000"/>
              </a:solidFill>
              <a:latin typeface="Arial" panose="020B0604020202020204" pitchFamily="34" charset="0"/>
              <a:ea typeface="+mn-ea"/>
              <a:cs typeface="+mn-cs"/>
            </a:endParaRPr>
          </a:p>
          <a:p>
            <a:pPr marL="341630" marR="0" indent="-339725" defTabSz="914400" eaLnBrk="1" fontAlgn="auto" hangingPunct="1">
              <a:spcBef>
                <a:spcPts val="790"/>
              </a:spcBef>
              <a:spcAft>
                <a:spcPts val="0"/>
              </a:spcAft>
              <a:buClrTx/>
              <a:buSzPct val="90000"/>
              <a:buFontTx/>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kumimoji="0" lang="en-GB" kern="1200" cap="none" spc="0" normalizeH="0" baseline="0" noProof="0">
              <a:solidFill>
                <a:srgbClr val="000000"/>
              </a:solidFill>
              <a:latin typeface="Arial" panose="020B0604020202020204" pitchFamily="34" charset="0"/>
              <a:ea typeface="+mn-ea"/>
              <a:cs typeface="+mn-cs"/>
            </a:endParaRPr>
          </a:p>
          <a:p>
            <a:pPr marL="339725" marR="0" indent="-339725" defTabSz="914400" eaLnBrk="1" fontAlgn="auto" hangingPunct="1">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i="1" kern="1200" cap="none" spc="0" normalizeH="0" baseline="0" noProof="0">
                <a:solidFill>
                  <a:srgbClr val="000000"/>
                </a:solidFill>
                <a:latin typeface="Arial" panose="020B0604020202020204" pitchFamily="34" charset="0"/>
                <a:ea typeface="+mn-ea"/>
                <a:cs typeface="+mn-cs"/>
              </a:rPr>
              <a:t>P</a:t>
            </a:r>
            <a:r>
              <a:rPr kumimoji="0" lang="en-GB" i="1" kern="1200" cap="none" spc="0" normalizeH="0" baseline="-25000" noProof="0">
                <a:solidFill>
                  <a:srgbClr val="000000"/>
                </a:solidFill>
                <a:latin typeface="Arial" panose="020B0604020202020204" pitchFamily="34" charset="0"/>
                <a:ea typeface="+mn-ea"/>
                <a:cs typeface="+mn-cs"/>
              </a:rPr>
              <a:t>i</a:t>
            </a:r>
            <a:r>
              <a:rPr kumimoji="0" lang="en-GB" kern="1200" cap="none" spc="0" normalizeH="0" baseline="0" noProof="0">
                <a:solidFill>
                  <a:srgbClr val="000000"/>
                </a:solidFill>
                <a:latin typeface="Arial" panose="020B0604020202020204" pitchFamily="34" charset="0"/>
                <a:ea typeface="+mn-ea"/>
                <a:cs typeface="+mn-cs"/>
              </a:rPr>
              <a:t> is holding an instance of </a:t>
            </a:r>
            <a:r>
              <a:rPr kumimoji="0" lang="en-GB" i="1" kern="1200" cap="none" spc="0" normalizeH="0" baseline="0" noProof="0">
                <a:solidFill>
                  <a:srgbClr val="000000"/>
                </a:solidFill>
                <a:latin typeface="Arial" panose="020B0604020202020204" pitchFamily="34" charset="0"/>
                <a:ea typeface="+mn-ea"/>
                <a:cs typeface="+mn-cs"/>
              </a:rPr>
              <a:t>R</a:t>
            </a:r>
            <a:r>
              <a:rPr kumimoji="0" lang="en-GB" i="1" kern="1200" cap="none" spc="0" normalizeH="0" baseline="-25000" noProof="0">
                <a:solidFill>
                  <a:srgbClr val="000000"/>
                </a:solidFill>
                <a:latin typeface="Arial" panose="020B0604020202020204" pitchFamily="34" charset="0"/>
                <a:ea typeface="+mn-ea"/>
                <a:cs typeface="+mn-cs"/>
              </a:rPr>
              <a:t>j</a:t>
            </a:r>
            <a:endParaRPr kumimoji="0" lang="en-GB" i="1" kern="1200" cap="none" spc="0" normalizeH="0" baseline="-25000" noProof="0">
              <a:solidFill>
                <a:srgbClr val="000000"/>
              </a:solidFill>
              <a:latin typeface="Arial" panose="020B0604020202020204" pitchFamily="34" charset="0"/>
              <a:ea typeface="+mn-ea"/>
              <a:cs typeface="+mn-cs"/>
            </a:endParaRPr>
          </a:p>
        </p:txBody>
      </p:sp>
      <p:sp>
        <p:nvSpPr>
          <p:cNvPr id="30724" name="Oval 3"/>
          <p:cNvSpPr/>
          <p:nvPr/>
        </p:nvSpPr>
        <p:spPr>
          <a:xfrm>
            <a:off x="4143375" y="1619250"/>
            <a:ext cx="495300" cy="495300"/>
          </a:xfrm>
          <a:prstGeom prst="ellipse">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25" name="Oval 4"/>
          <p:cNvSpPr/>
          <p:nvPr/>
        </p:nvSpPr>
        <p:spPr>
          <a:xfrm>
            <a:off x="3657600" y="5562600"/>
            <a:ext cx="495300" cy="495300"/>
          </a:xfrm>
          <a:prstGeom prst="ellipse">
            <a:avLst/>
          </a:prstGeom>
          <a:solidFill>
            <a:srgbClr val="FFCCCC"/>
          </a:solidFill>
          <a:ln w="9360" cap="sq" cmpd="sng">
            <a:solidFill>
              <a:srgbClr val="000000"/>
            </a:solidFill>
            <a:prstDash val="solid"/>
            <a:miter/>
            <a:headEnd type="none" w="med" len="med"/>
            <a:tailEnd type="triangle" w="med" len="med"/>
          </a:ln>
        </p:spPr>
        <p:txBody>
          <a:bodyPr wrap="none" lIns="90000" tIns="46800" rIns="90000" bIns="46800" anchor="ctr" anchorCtr="0"/>
          <a:p>
            <a:pPr algn="ctr"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i="1" dirty="0">
                <a:solidFill>
                  <a:srgbClr val="000000"/>
                </a:solidFill>
                <a:latin typeface="Arial" panose="020B0604020202020204" pitchFamily="34" charset="0"/>
              </a:rPr>
              <a:t>P</a:t>
            </a:r>
            <a:r>
              <a:rPr lang="en-GB" altLang="x-none" i="1" baseline="-25000" dirty="0">
                <a:solidFill>
                  <a:srgbClr val="000000"/>
                </a:solidFill>
                <a:latin typeface="Arial" panose="020B0604020202020204" pitchFamily="34" charset="0"/>
              </a:rPr>
              <a:t>i</a:t>
            </a:r>
            <a:endParaRPr lang="en-GB" altLang="x-none" i="1" baseline="-25000" dirty="0">
              <a:solidFill>
                <a:srgbClr val="000000"/>
              </a:solidFill>
              <a:latin typeface="Arial" panose="020B0604020202020204" pitchFamily="34" charset="0"/>
            </a:endParaRPr>
          </a:p>
        </p:txBody>
      </p:sp>
      <p:sp>
        <p:nvSpPr>
          <p:cNvPr id="30726" name="Oval 5"/>
          <p:cNvSpPr/>
          <p:nvPr/>
        </p:nvSpPr>
        <p:spPr>
          <a:xfrm>
            <a:off x="3716338" y="4105275"/>
            <a:ext cx="495300" cy="495300"/>
          </a:xfrm>
          <a:prstGeom prst="ellipse">
            <a:avLst/>
          </a:prstGeom>
          <a:solidFill>
            <a:srgbClr val="FFCCCC"/>
          </a:solidFill>
          <a:ln w="9360" cap="sq" cmpd="sng">
            <a:solidFill>
              <a:srgbClr val="000000"/>
            </a:solidFill>
            <a:prstDash val="solid"/>
            <a:miter/>
            <a:headEnd type="none" w="med" len="med"/>
            <a:tailEnd type="triangle" w="med" len="med"/>
          </a:ln>
        </p:spPr>
        <p:txBody>
          <a:bodyPr wrap="none" lIns="90000" tIns="46800" rIns="90000" bIns="46800" anchor="ctr" anchorCtr="0"/>
          <a:p>
            <a:pPr algn="ctr"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i="1" dirty="0">
                <a:solidFill>
                  <a:srgbClr val="000000"/>
                </a:solidFill>
                <a:latin typeface="Arial" panose="020B0604020202020204" pitchFamily="34" charset="0"/>
              </a:rPr>
              <a:t>P</a:t>
            </a:r>
            <a:r>
              <a:rPr lang="en-GB" altLang="x-none" i="1" baseline="-25000" dirty="0">
                <a:solidFill>
                  <a:srgbClr val="000000"/>
                </a:solidFill>
                <a:latin typeface="Arial" panose="020B0604020202020204" pitchFamily="34" charset="0"/>
              </a:rPr>
              <a:t>i</a:t>
            </a:r>
            <a:endParaRPr lang="en-GB" altLang="x-none" i="1" baseline="-25000" dirty="0">
              <a:solidFill>
                <a:srgbClr val="000000"/>
              </a:solidFill>
              <a:latin typeface="Arial" panose="020B0604020202020204" pitchFamily="34" charset="0"/>
            </a:endParaRPr>
          </a:p>
        </p:txBody>
      </p:sp>
      <p:grpSp>
        <p:nvGrpSpPr>
          <p:cNvPr id="30727" name="Group 6"/>
          <p:cNvGrpSpPr/>
          <p:nvPr/>
        </p:nvGrpSpPr>
        <p:grpSpPr>
          <a:xfrm>
            <a:off x="4232275" y="3121025"/>
            <a:ext cx="434975" cy="415925"/>
            <a:chOff x="2666" y="1966"/>
            <a:chExt cx="274" cy="262"/>
          </a:xfrm>
        </p:grpSpPr>
        <p:sp>
          <p:nvSpPr>
            <p:cNvPr id="30745" name="Rectangle 7"/>
            <p:cNvSpPr/>
            <p:nvPr/>
          </p:nvSpPr>
          <p:spPr>
            <a:xfrm>
              <a:off x="2666" y="1966"/>
              <a:ext cx="274" cy="262"/>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6" name="Rectangle 8"/>
            <p:cNvSpPr/>
            <p:nvPr/>
          </p:nvSpPr>
          <p:spPr>
            <a:xfrm>
              <a:off x="2736" y="2026"/>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7" name="Rectangle 9"/>
            <p:cNvSpPr/>
            <p:nvPr/>
          </p:nvSpPr>
          <p:spPr>
            <a:xfrm>
              <a:off x="2831" y="2026"/>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8" name="Rectangle 10"/>
            <p:cNvSpPr/>
            <p:nvPr/>
          </p:nvSpPr>
          <p:spPr>
            <a:xfrm>
              <a:off x="2736" y="2107"/>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9" name="Rectangle 11"/>
            <p:cNvSpPr/>
            <p:nvPr/>
          </p:nvSpPr>
          <p:spPr>
            <a:xfrm>
              <a:off x="2831" y="2107"/>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grpSp>
      <p:grpSp>
        <p:nvGrpSpPr>
          <p:cNvPr id="30728" name="Group 12"/>
          <p:cNvGrpSpPr/>
          <p:nvPr/>
        </p:nvGrpSpPr>
        <p:grpSpPr>
          <a:xfrm>
            <a:off x="4692650" y="4168775"/>
            <a:ext cx="434975" cy="415925"/>
            <a:chOff x="2956" y="2626"/>
            <a:chExt cx="274" cy="262"/>
          </a:xfrm>
        </p:grpSpPr>
        <p:sp>
          <p:nvSpPr>
            <p:cNvPr id="30740" name="Rectangle 13"/>
            <p:cNvSpPr/>
            <p:nvPr/>
          </p:nvSpPr>
          <p:spPr>
            <a:xfrm>
              <a:off x="2956" y="2626"/>
              <a:ext cx="274" cy="262"/>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1" name="Rectangle 14"/>
            <p:cNvSpPr/>
            <p:nvPr/>
          </p:nvSpPr>
          <p:spPr>
            <a:xfrm>
              <a:off x="3026" y="2686"/>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2" name="Rectangle 15"/>
            <p:cNvSpPr/>
            <p:nvPr/>
          </p:nvSpPr>
          <p:spPr>
            <a:xfrm>
              <a:off x="3121" y="2686"/>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3" name="Rectangle 16"/>
            <p:cNvSpPr/>
            <p:nvPr/>
          </p:nvSpPr>
          <p:spPr>
            <a:xfrm>
              <a:off x="3026" y="2767"/>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44" name="Rectangle 17"/>
            <p:cNvSpPr/>
            <p:nvPr/>
          </p:nvSpPr>
          <p:spPr>
            <a:xfrm>
              <a:off x="3121" y="2767"/>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grpSp>
      <p:sp>
        <p:nvSpPr>
          <p:cNvPr id="30729" name="Text Box 18"/>
          <p:cNvSpPr txBox="1"/>
          <p:nvPr/>
        </p:nvSpPr>
        <p:spPr>
          <a:xfrm>
            <a:off x="4756150" y="4570413"/>
            <a:ext cx="331788" cy="336550"/>
          </a:xfrm>
          <a:prstGeom prst="rect">
            <a:avLst/>
          </a:prstGeom>
          <a:noFill/>
          <a:ln w="9525">
            <a:noFill/>
          </a:ln>
        </p:spPr>
        <p:txBody>
          <a:bodyPr wrap="none" lIns="90000" tIns="46800" rIns="90000" bIns="46800" anchor="ctr" anchorCtr="0">
            <a:spAutoFit/>
          </a:bodyPr>
          <a:p>
            <a:pPr algn="ctr" defTabSz="914400" eaLnBrk="1" hangingPunct="1">
              <a:spcBef>
                <a:spcPts val="875"/>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sz="1400" i="1" dirty="0">
                <a:solidFill>
                  <a:srgbClr val="000000"/>
                </a:solidFill>
                <a:latin typeface="Arial" panose="020B0604020202020204" pitchFamily="34" charset="0"/>
              </a:rPr>
              <a:t>R</a:t>
            </a:r>
            <a:r>
              <a:rPr lang="en-GB" altLang="x-none" sz="1400" i="1" baseline="-25000" dirty="0">
                <a:solidFill>
                  <a:srgbClr val="000000"/>
                </a:solidFill>
                <a:latin typeface="Arial" panose="020B0604020202020204" pitchFamily="34" charset="0"/>
              </a:rPr>
              <a:t>j</a:t>
            </a:r>
            <a:endParaRPr lang="en-GB" altLang="x-none" sz="1400" i="1" baseline="-25000" dirty="0">
              <a:solidFill>
                <a:srgbClr val="000000"/>
              </a:solidFill>
              <a:latin typeface="Arial" panose="020B0604020202020204" pitchFamily="34" charset="0"/>
            </a:endParaRPr>
          </a:p>
        </p:txBody>
      </p:sp>
      <p:grpSp>
        <p:nvGrpSpPr>
          <p:cNvPr id="30730" name="Group 19"/>
          <p:cNvGrpSpPr/>
          <p:nvPr/>
        </p:nvGrpSpPr>
        <p:grpSpPr>
          <a:xfrm>
            <a:off x="4630738" y="5626100"/>
            <a:ext cx="434975" cy="415925"/>
            <a:chOff x="2917" y="3544"/>
            <a:chExt cx="274" cy="262"/>
          </a:xfrm>
        </p:grpSpPr>
        <p:sp>
          <p:nvSpPr>
            <p:cNvPr id="30735" name="Rectangle 20"/>
            <p:cNvSpPr/>
            <p:nvPr/>
          </p:nvSpPr>
          <p:spPr>
            <a:xfrm>
              <a:off x="2917" y="3544"/>
              <a:ext cx="274" cy="262"/>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36" name="Rectangle 21"/>
            <p:cNvSpPr/>
            <p:nvPr/>
          </p:nvSpPr>
          <p:spPr>
            <a:xfrm>
              <a:off x="2987" y="3604"/>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37" name="Rectangle 22"/>
            <p:cNvSpPr/>
            <p:nvPr/>
          </p:nvSpPr>
          <p:spPr>
            <a:xfrm>
              <a:off x="3082" y="3604"/>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38" name="Rectangle 23"/>
            <p:cNvSpPr/>
            <p:nvPr/>
          </p:nvSpPr>
          <p:spPr>
            <a:xfrm>
              <a:off x="2987" y="3685"/>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sp>
          <p:nvSpPr>
            <p:cNvPr id="30739" name="Rectangle 24"/>
            <p:cNvSpPr/>
            <p:nvPr/>
          </p:nvSpPr>
          <p:spPr>
            <a:xfrm>
              <a:off x="3082" y="3685"/>
              <a:ext cx="46" cy="46"/>
            </a:xfrm>
            <a:prstGeom prst="rect">
              <a:avLst/>
            </a:prstGeom>
            <a:solidFill>
              <a:srgbClr val="FFCCCC"/>
            </a:solidFill>
            <a:ln w="9360" cap="sq" cmpd="sng">
              <a:solidFill>
                <a:srgbClr val="000000"/>
              </a:solidFill>
              <a:prstDash val="solid"/>
              <a:miter/>
              <a:headEnd type="none" w="med" len="med"/>
              <a:tailEnd type="triangle" w="med" len="med"/>
            </a:ln>
          </p:spPr>
          <p:txBody>
            <a:bodyPr wrap="none" anchor="ctr" anchorCtr="0"/>
            <a:p>
              <a:pPr eaLnBrk="1" hangingPunct="1"/>
              <a:endParaRPr lang="en-IN" altLang="x-none" dirty="0">
                <a:latin typeface="Constantia" panose="02030602050306030303" pitchFamily="18" charset="0"/>
              </a:endParaRPr>
            </a:p>
          </p:txBody>
        </p:sp>
      </p:grpSp>
      <p:sp>
        <p:nvSpPr>
          <p:cNvPr id="30731" name="Text Box 25"/>
          <p:cNvSpPr txBox="1"/>
          <p:nvPr/>
        </p:nvSpPr>
        <p:spPr>
          <a:xfrm>
            <a:off x="4684713" y="5999163"/>
            <a:ext cx="331787" cy="336550"/>
          </a:xfrm>
          <a:prstGeom prst="rect">
            <a:avLst/>
          </a:prstGeom>
          <a:noFill/>
          <a:ln w="9525">
            <a:noFill/>
          </a:ln>
        </p:spPr>
        <p:txBody>
          <a:bodyPr wrap="none" lIns="90000" tIns="46800" rIns="90000" bIns="46800" anchor="ctr" anchorCtr="0">
            <a:spAutoFit/>
          </a:bodyPr>
          <a:p>
            <a:pPr algn="ctr" defTabSz="914400" eaLnBrk="1" hangingPunct="1">
              <a:spcBef>
                <a:spcPts val="875"/>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sz="1400" i="1" dirty="0">
                <a:solidFill>
                  <a:srgbClr val="000000"/>
                </a:solidFill>
                <a:latin typeface="Arial" panose="020B0604020202020204" pitchFamily="34" charset="0"/>
              </a:rPr>
              <a:t>R</a:t>
            </a:r>
            <a:r>
              <a:rPr lang="en-GB" altLang="x-none" sz="1400" i="1" baseline="-25000" dirty="0">
                <a:solidFill>
                  <a:srgbClr val="000000"/>
                </a:solidFill>
                <a:latin typeface="Arial" panose="020B0604020202020204" pitchFamily="34" charset="0"/>
              </a:rPr>
              <a:t>j</a:t>
            </a:r>
            <a:endParaRPr lang="en-GB" altLang="x-none" sz="1400" i="1" baseline="-25000" dirty="0">
              <a:solidFill>
                <a:srgbClr val="000000"/>
              </a:solidFill>
              <a:latin typeface="Arial" panose="020B0604020202020204" pitchFamily="34" charset="0"/>
            </a:endParaRPr>
          </a:p>
        </p:txBody>
      </p:sp>
      <p:sp>
        <p:nvSpPr>
          <p:cNvPr id="30732" name="Line 26"/>
          <p:cNvSpPr/>
          <p:nvPr/>
        </p:nvSpPr>
        <p:spPr>
          <a:xfrm>
            <a:off x="4235450" y="4379913"/>
            <a:ext cx="457200" cy="1587"/>
          </a:xfrm>
          <a:prstGeom prst="line">
            <a:avLst/>
          </a:prstGeom>
          <a:ln w="9360" cap="sq" cmpd="sng">
            <a:solidFill>
              <a:srgbClr val="000000"/>
            </a:solidFill>
            <a:prstDash val="solid"/>
            <a:miter/>
            <a:headEnd type="none" w="med" len="med"/>
            <a:tailEnd type="triangle" w="med" len="med"/>
          </a:ln>
        </p:spPr>
      </p:sp>
      <p:sp>
        <p:nvSpPr>
          <p:cNvPr id="30733" name="Line 27"/>
          <p:cNvSpPr/>
          <p:nvPr/>
        </p:nvSpPr>
        <p:spPr>
          <a:xfrm>
            <a:off x="4235450" y="4379913"/>
            <a:ext cx="457200" cy="1587"/>
          </a:xfrm>
          <a:prstGeom prst="line">
            <a:avLst/>
          </a:prstGeom>
          <a:ln w="9360" cap="sq" cmpd="sng">
            <a:solidFill>
              <a:srgbClr val="000000"/>
            </a:solidFill>
            <a:prstDash val="solid"/>
            <a:miter/>
            <a:headEnd type="none" w="med" len="med"/>
            <a:tailEnd type="triangle" w="med" len="med"/>
          </a:ln>
        </p:spPr>
      </p:sp>
      <p:sp>
        <p:nvSpPr>
          <p:cNvPr id="30734" name="Line 28"/>
          <p:cNvSpPr/>
          <p:nvPr/>
        </p:nvSpPr>
        <p:spPr>
          <a:xfrm flipH="1">
            <a:off x="4111625" y="5715000"/>
            <a:ext cx="692150" cy="228600"/>
          </a:xfrm>
          <a:prstGeom prst="line">
            <a:avLst/>
          </a:prstGeom>
          <a:ln w="9360" cap="sq" cmpd="sng">
            <a:solidFill>
              <a:srgbClr val="000000"/>
            </a:solidFill>
            <a:prstDash val="solid"/>
            <a:miter/>
            <a:headEnd type="none" w="med" len="med"/>
            <a:tailEnd type="triangle" w="med" len="med"/>
          </a:ln>
        </p:spPr>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ext Box 1"/>
          <p:cNvSpPr txBox="1">
            <a:spLocks noChangeArrowheads="1"/>
          </p:cNvSpPr>
          <p:nvPr/>
        </p:nvSpPr>
        <p:spPr bwMode="auto">
          <a:xfrm>
            <a:off x="415925" y="542925"/>
            <a:ext cx="8728075" cy="520700"/>
          </a:xfrm>
          <a:prstGeom prst="rect">
            <a:avLst/>
          </a:prstGeom>
          <a:noFill/>
          <a:ln w="9525" cap="flat">
            <a:noFill/>
            <a:round/>
          </a:ln>
          <a:effectLst/>
        </p:spPr>
        <p:txBody>
          <a:bodyPr lIns="90000" tIns="46800" rIns="90000" bIns="46800" anchor="b"/>
          <a:lstStyle/>
          <a:p>
            <a:pPr marR="0" algn="ctr" defTabSz="914400" eaLnBrk="1" fontAlgn="auto" hangingPunct="1">
              <a:spcBef>
                <a:spcPts val="0"/>
              </a:spcBef>
              <a:spcAft>
                <a:spcPts val="0"/>
              </a:spcAft>
              <a:buClrTx/>
              <a:buSz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kumimoji="0" lang="en-GB" sz="2800" b="1" kern="1200" cap="none" spc="0" normalizeH="0" baseline="0" noProof="0">
                <a:solidFill>
                  <a:srgbClr val="993300"/>
                </a:solidFill>
                <a:effectLst>
                  <a:outerShdw blurRad="38100" dist="38100" dir="2700000" algn="tl">
                    <a:srgbClr val="C0C0C0"/>
                  </a:outerShdw>
                </a:effectLst>
                <a:latin typeface="Arial" panose="020B0604020202020204" pitchFamily="34" charset="0"/>
                <a:ea typeface="+mn-ea"/>
                <a:cs typeface="+mn-cs"/>
              </a:rPr>
              <a:t>Resource Allocation Graph With A Deadlock</a:t>
            </a:r>
            <a:endParaRPr kumimoji="0" lang="en-GB" sz="2800" b="1" kern="1200" cap="none" spc="0" normalizeH="0" baseline="0" noProof="0">
              <a:solidFill>
                <a:srgbClr val="993300"/>
              </a:solidFill>
              <a:effectLst>
                <a:outerShdw blurRad="38100" dist="38100" dir="2700000" algn="tl">
                  <a:srgbClr val="C0C0C0"/>
                </a:outerShdw>
              </a:effectLst>
              <a:latin typeface="Arial" panose="020B0604020202020204" pitchFamily="34" charset="0"/>
              <a:ea typeface="+mn-ea"/>
              <a:cs typeface="+mn-cs"/>
            </a:endParaRPr>
          </a:p>
        </p:txBody>
      </p:sp>
      <p:pic>
        <p:nvPicPr>
          <p:cNvPr id="32771" name="Picture 2"/>
          <p:cNvPicPr>
            <a:picLocks noChangeAspect="1"/>
          </p:cNvPicPr>
          <p:nvPr/>
        </p:nvPicPr>
        <p:blipFill>
          <a:blip r:embed="rId1"/>
          <a:srcRect l="25069" t="934" r="25282" b="1544"/>
          <a:stretch>
            <a:fillRect/>
          </a:stretch>
        </p:blipFill>
        <p:spPr>
          <a:xfrm>
            <a:off x="5505450" y="1814513"/>
            <a:ext cx="2755900" cy="4059237"/>
          </a:xfrm>
          <a:prstGeom prst="rect">
            <a:avLst/>
          </a:prstGeom>
          <a:noFill/>
          <a:ln w="38160" cap="sq" cmpd="sng">
            <a:solidFill>
              <a:srgbClr val="CC6600"/>
            </a:solidFill>
            <a:prstDash val="solid"/>
            <a:miter/>
            <a:headEnd type="none" w="med" len="med"/>
            <a:tailEnd type="triangle" w="med" len="med"/>
          </a:ln>
        </p:spPr>
      </p:pic>
      <p:pic>
        <p:nvPicPr>
          <p:cNvPr id="32772" name="Picture 3"/>
          <p:cNvPicPr>
            <a:picLocks noChangeAspect="1"/>
          </p:cNvPicPr>
          <p:nvPr/>
        </p:nvPicPr>
        <p:blipFill>
          <a:blip r:embed="rId2"/>
          <a:srcRect l="25287" t="925" r="25287" b="1530"/>
          <a:stretch>
            <a:fillRect/>
          </a:stretch>
        </p:blipFill>
        <p:spPr>
          <a:xfrm>
            <a:off x="1058863" y="1839913"/>
            <a:ext cx="2781300" cy="4117975"/>
          </a:xfrm>
          <a:prstGeom prst="rect">
            <a:avLst/>
          </a:prstGeom>
          <a:noFill/>
          <a:ln w="38160" cap="sq" cmpd="sng">
            <a:solidFill>
              <a:srgbClr val="CC6600"/>
            </a:solidFill>
            <a:prstDash val="solid"/>
            <a:miter/>
            <a:headEnd type="none" w="med" len="med"/>
            <a:tailEnd type="triangle" w="med" len="med"/>
          </a:ln>
        </p:spPr>
      </p:pic>
      <p:sp>
        <p:nvSpPr>
          <p:cNvPr id="32773" name="Text Box 4"/>
          <p:cNvSpPr txBox="1"/>
          <p:nvPr/>
        </p:nvSpPr>
        <p:spPr>
          <a:xfrm>
            <a:off x="1033463" y="1157288"/>
            <a:ext cx="3048000" cy="717550"/>
          </a:xfrm>
          <a:prstGeom prst="rect">
            <a:avLst/>
          </a:prstGeom>
          <a:noFill/>
          <a:ln w="9525">
            <a:noFill/>
          </a:ln>
        </p:spPr>
        <p:txBody>
          <a:bodyPr lIns="90000" tIns="46800" rIns="90000" bIns="46800">
            <a:spAutoFit/>
          </a:bodyPr>
          <a:p>
            <a:pPr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dirty="0">
                <a:solidFill>
                  <a:srgbClr val="000000"/>
                </a:solidFill>
                <a:latin typeface="Arial" panose="020B0604020202020204" pitchFamily="34" charset="0"/>
              </a:rPr>
              <a:t>Before P</a:t>
            </a:r>
            <a:r>
              <a:rPr lang="en-GB" altLang="x-none" baseline="-25000" dirty="0">
                <a:solidFill>
                  <a:srgbClr val="000000"/>
                </a:solidFill>
                <a:latin typeface="Arial" panose="020B0604020202020204" pitchFamily="34" charset="0"/>
              </a:rPr>
              <a:t>3</a:t>
            </a:r>
            <a:r>
              <a:rPr lang="en-GB" altLang="x-none" dirty="0">
                <a:solidFill>
                  <a:srgbClr val="000000"/>
                </a:solidFill>
                <a:latin typeface="Arial" panose="020B0604020202020204" pitchFamily="34" charset="0"/>
              </a:rPr>
              <a:t> requested an instance of R</a:t>
            </a:r>
            <a:r>
              <a:rPr lang="en-GB" altLang="x-none" baseline="-25000" dirty="0">
                <a:solidFill>
                  <a:srgbClr val="000000"/>
                </a:solidFill>
                <a:latin typeface="Arial" panose="020B0604020202020204" pitchFamily="34" charset="0"/>
              </a:rPr>
              <a:t>2</a:t>
            </a:r>
            <a:endParaRPr lang="en-GB" altLang="x-none" baseline="-25000" dirty="0">
              <a:solidFill>
                <a:srgbClr val="000000"/>
              </a:solidFill>
              <a:latin typeface="Arial" panose="020B0604020202020204" pitchFamily="34" charset="0"/>
            </a:endParaRPr>
          </a:p>
        </p:txBody>
      </p:sp>
      <p:sp>
        <p:nvSpPr>
          <p:cNvPr id="32774" name="Text Box 5"/>
          <p:cNvSpPr txBox="1"/>
          <p:nvPr/>
        </p:nvSpPr>
        <p:spPr>
          <a:xfrm>
            <a:off x="5548313" y="1150938"/>
            <a:ext cx="2854325" cy="717550"/>
          </a:xfrm>
          <a:prstGeom prst="rect">
            <a:avLst/>
          </a:prstGeom>
          <a:noFill/>
          <a:ln w="9525">
            <a:noFill/>
          </a:ln>
        </p:spPr>
        <p:txBody>
          <a:bodyPr lIns="90000" tIns="46800" rIns="90000" bIns="46800">
            <a:spAutoFit/>
          </a:bodyPr>
          <a:p>
            <a:pPr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dirty="0">
                <a:solidFill>
                  <a:srgbClr val="000000"/>
                </a:solidFill>
                <a:latin typeface="Arial" panose="020B0604020202020204" pitchFamily="34" charset="0"/>
              </a:rPr>
              <a:t>After P</a:t>
            </a:r>
            <a:r>
              <a:rPr lang="en-GB" altLang="x-none" baseline="-25000" dirty="0">
                <a:solidFill>
                  <a:srgbClr val="000000"/>
                </a:solidFill>
                <a:latin typeface="Arial" panose="020B0604020202020204" pitchFamily="34" charset="0"/>
              </a:rPr>
              <a:t>3</a:t>
            </a:r>
            <a:r>
              <a:rPr lang="en-GB" altLang="x-none" dirty="0">
                <a:solidFill>
                  <a:srgbClr val="000000"/>
                </a:solidFill>
                <a:latin typeface="Arial" panose="020B0604020202020204" pitchFamily="34" charset="0"/>
              </a:rPr>
              <a:t> requested an instance of R</a:t>
            </a:r>
            <a:r>
              <a:rPr lang="en-GB" altLang="x-none" baseline="-25000" dirty="0">
                <a:solidFill>
                  <a:srgbClr val="000000"/>
                </a:solidFill>
                <a:latin typeface="Arial" panose="020B0604020202020204" pitchFamily="34" charset="0"/>
              </a:rPr>
              <a:t>2</a:t>
            </a:r>
            <a:endParaRPr lang="en-GB" altLang="x-none" baseline="-25000" dirty="0">
              <a:solidFill>
                <a:srgbClr val="000000"/>
              </a:solidFill>
              <a:latin typeface="Arial" panose="020B0604020202020204" pitchFamily="34" charset="0"/>
            </a:endParaRPr>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Text Box 1"/>
          <p:cNvSpPr txBox="1">
            <a:spLocks noChangeArrowheads="1"/>
          </p:cNvSpPr>
          <p:nvPr/>
        </p:nvSpPr>
        <p:spPr bwMode="auto">
          <a:xfrm>
            <a:off x="609600" y="566738"/>
            <a:ext cx="8226425" cy="581025"/>
          </a:xfrm>
          <a:prstGeom prst="rect">
            <a:avLst/>
          </a:prstGeom>
          <a:noFill/>
          <a:ln w="9525" cap="flat">
            <a:noFill/>
            <a:round/>
          </a:ln>
          <a:effectLst/>
        </p:spPr>
        <p:txBody>
          <a:bodyPr lIns="90000" tIns="46800" rIns="90000" bIns="46800" anchor="b"/>
          <a:lstStyle/>
          <a:p>
            <a:pPr marR="0" algn="ctr" defTabSz="914400" eaLnBrk="1" fontAlgn="auto" hangingPunct="1">
              <a:spcBef>
                <a:spcPts val="0"/>
              </a:spcBef>
              <a:spcAft>
                <a:spcPts val="0"/>
              </a:spcAft>
              <a:buClrTx/>
              <a:buSz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kumimoji="0" lang="en-GB" sz="3200" b="1" kern="1200" cap="none" spc="0" normalizeH="0" baseline="0" noProof="0">
                <a:solidFill>
                  <a:srgbClr val="993300"/>
                </a:solidFill>
                <a:effectLst>
                  <a:outerShdw blurRad="38100" dist="38100" dir="2700000" algn="tl">
                    <a:srgbClr val="C0C0C0"/>
                  </a:outerShdw>
                </a:effectLst>
                <a:latin typeface="Arial" panose="020B0604020202020204" pitchFamily="34" charset="0"/>
                <a:ea typeface="+mn-ea"/>
                <a:cs typeface="+mn-cs"/>
              </a:rPr>
              <a:t>Graph With A Cycle But No Deadlock</a:t>
            </a:r>
            <a:endParaRPr kumimoji="0" lang="en-GB" sz="3200" b="1" kern="1200" cap="none" spc="0" normalizeH="0" baseline="0" noProof="0">
              <a:solidFill>
                <a:srgbClr val="993300"/>
              </a:solidFill>
              <a:effectLst>
                <a:outerShdw blurRad="38100" dist="38100" dir="2700000" algn="tl">
                  <a:srgbClr val="C0C0C0"/>
                </a:outerShdw>
              </a:effectLst>
              <a:latin typeface="Arial" panose="020B0604020202020204" pitchFamily="34" charset="0"/>
              <a:ea typeface="+mn-ea"/>
              <a:cs typeface="+mn-cs"/>
            </a:endParaRPr>
          </a:p>
        </p:txBody>
      </p:sp>
      <p:pic>
        <p:nvPicPr>
          <p:cNvPr id="34819" name="Picture 2"/>
          <p:cNvPicPr>
            <a:picLocks noChangeAspect="1"/>
          </p:cNvPicPr>
          <p:nvPr/>
        </p:nvPicPr>
        <p:blipFill>
          <a:blip r:embed="rId1"/>
          <a:srcRect l="20949" t="905" r="21391" b="905"/>
          <a:stretch>
            <a:fillRect/>
          </a:stretch>
        </p:blipFill>
        <p:spPr>
          <a:xfrm>
            <a:off x="2808288" y="1293813"/>
            <a:ext cx="3246437" cy="4157662"/>
          </a:xfrm>
          <a:prstGeom prst="rect">
            <a:avLst/>
          </a:prstGeom>
          <a:noFill/>
          <a:ln w="38160" cap="sq" cmpd="sng">
            <a:solidFill>
              <a:srgbClr val="CC6600"/>
            </a:solidFill>
            <a:prstDash val="solid"/>
            <a:miter/>
            <a:headEnd type="none" w="med" len="med"/>
            <a:tailEnd type="triangle" w="med" len="med"/>
          </a:ln>
        </p:spPr>
      </p:pic>
      <p:sp>
        <p:nvSpPr>
          <p:cNvPr id="34820" name="Text Box 3"/>
          <p:cNvSpPr txBox="1"/>
          <p:nvPr/>
        </p:nvSpPr>
        <p:spPr>
          <a:xfrm>
            <a:off x="796925" y="5745163"/>
            <a:ext cx="6750050" cy="679450"/>
          </a:xfrm>
          <a:prstGeom prst="rect">
            <a:avLst/>
          </a:prstGeom>
          <a:noFill/>
          <a:ln w="9525">
            <a:noFill/>
          </a:ln>
        </p:spPr>
        <p:txBody>
          <a:bodyPr wrap="none" lIns="90000" tIns="46800" rIns="90000" bIns="46800">
            <a:spAutoFit/>
          </a:bodyPr>
          <a:p>
            <a:pPr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dirty="0">
                <a:solidFill>
                  <a:srgbClr val="000000"/>
                </a:solidFill>
                <a:latin typeface="Arial" panose="020B0604020202020204" pitchFamily="34" charset="0"/>
              </a:rPr>
              <a:t>Process P</a:t>
            </a:r>
            <a:r>
              <a:rPr lang="en-GB" altLang="x-none" baseline="-25000" dirty="0">
                <a:solidFill>
                  <a:srgbClr val="000000"/>
                </a:solidFill>
                <a:latin typeface="Arial" panose="020B0604020202020204" pitchFamily="34" charset="0"/>
              </a:rPr>
              <a:t>4</a:t>
            </a:r>
            <a:r>
              <a:rPr lang="en-GB" altLang="x-none" dirty="0">
                <a:solidFill>
                  <a:srgbClr val="000000"/>
                </a:solidFill>
                <a:latin typeface="Arial" panose="020B0604020202020204" pitchFamily="34" charset="0"/>
              </a:rPr>
              <a:t> may release its instance of resource type R</a:t>
            </a:r>
            <a:r>
              <a:rPr lang="en-GB" altLang="x-none" baseline="-25000" dirty="0">
                <a:solidFill>
                  <a:srgbClr val="000000"/>
                </a:solidFill>
                <a:latin typeface="Arial" panose="020B0604020202020204" pitchFamily="34" charset="0"/>
              </a:rPr>
              <a:t>2</a:t>
            </a:r>
            <a:r>
              <a:rPr lang="en-GB" altLang="x-none" dirty="0">
                <a:solidFill>
                  <a:srgbClr val="000000"/>
                </a:solidFill>
                <a:latin typeface="Arial" panose="020B0604020202020204" pitchFamily="34" charset="0"/>
              </a:rPr>
              <a:t>.  That </a:t>
            </a:r>
            <a:endParaRPr lang="en-GB" altLang="x-none" dirty="0">
              <a:solidFill>
                <a:srgbClr val="000000"/>
              </a:solidFill>
              <a:latin typeface="Arial" panose="020B0604020202020204" pitchFamily="34" charset="0"/>
            </a:endParaRPr>
          </a:p>
          <a:p>
            <a:pPr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ltLang="x-none" dirty="0">
                <a:solidFill>
                  <a:srgbClr val="000000"/>
                </a:solidFill>
                <a:latin typeface="Arial" panose="020B0604020202020204" pitchFamily="34" charset="0"/>
              </a:rPr>
              <a:t>resource can then be allocated to P3, thereby breaking the cycle.</a:t>
            </a:r>
            <a:endParaRPr lang="en-GB" altLang="x-none" dirty="0">
              <a:solidFill>
                <a:srgbClr val="000000"/>
              </a:solidFill>
              <a:latin typeface="Arial" panose="020B0604020202020204" pitchFamily="34" charset="0"/>
            </a:endParaRPr>
          </a:p>
        </p:txBody>
      </p:sp>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Relationship of cycles to deadlocks</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a:bodyPr>
          <a:lstStyle/>
          <a:p>
            <a:pPr marL="339725" marR="0" lvl="0" indent="-339725" algn="l" defTabSz="914400" rtl="0" eaLnBrk="1" fontAlgn="auto" latinLnBrk="0" hangingPunct="1">
              <a:lnSpc>
                <a:spcPct val="100000"/>
              </a:lnSpc>
              <a:spcBef>
                <a:spcPts val="79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 resource allocation graph contains </a:t>
            </a:r>
            <a:r>
              <a:rPr kumimoji="0" lang="en-GB" sz="28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no</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cycles </a:t>
            </a:r>
            <a:r>
              <a:rPr kumimoji="0" lang="en-GB" sz="2800" b="0" i="0" u="none" strike="noStrike" kern="1200" cap="none" spc="0" normalizeH="0" baseline="0" noProof="0" dirty="0" smtClean="0">
                <a:ln>
                  <a:noFill/>
                </a:ln>
                <a:solidFill>
                  <a:srgbClr val="000000"/>
                </a:solidFill>
                <a:effectLst/>
                <a:uLnTx/>
                <a:uFillTx/>
                <a:latin typeface="Symbol" panose="05050102010706020507" pitchFamily="18" charset="2"/>
                <a:ea typeface="Symbol" panose="05050102010706020507" pitchFamily="18" charset="2"/>
                <a:cs typeface="Symbol" panose="05050102010706020507" pitchFamily="18" charset="2"/>
              </a:rPr>
              <a:t></a:t>
            </a: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no deadlock </a:t>
            </a:r>
            <a:b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br>
            <a:endPar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39725" marR="0" lvl="0" indent="-339725" algn="l" defTabSz="914400" rtl="0" eaLnBrk="1" fontAlgn="auto" latinLnBrk="0" hangingPunct="1">
              <a:lnSpc>
                <a:spcPct val="100000"/>
              </a:lnSpc>
              <a:spcBef>
                <a:spcPts val="70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 resource allocation graph contains a cycle and </a:t>
            </a:r>
            <a: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t>
            </a:r>
            <a:r>
              <a:rPr kumimoji="0" lang="en-GB" sz="24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only one</a:t>
            </a:r>
            <a: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instance exists per resource type </a:t>
            </a:r>
            <a:r>
              <a:rPr kumimoji="0" lang="en-GB" sz="2800" b="0" i="0" u="none" strike="noStrike" kern="1200" cap="none" spc="0" normalizeH="0" baseline="0" noProof="0" dirty="0" smtClean="0">
                <a:ln>
                  <a:noFill/>
                </a:ln>
                <a:solidFill>
                  <a:srgbClr val="000000"/>
                </a:solidFill>
                <a:effectLst/>
                <a:uLnTx/>
                <a:uFillTx/>
                <a:latin typeface="Symbol" panose="05050102010706020507" pitchFamily="18" charset="2"/>
                <a:ea typeface="Symbol" panose="05050102010706020507" pitchFamily="18" charset="2"/>
                <a:cs typeface="Symbol" panose="05050102010706020507" pitchFamily="18" charset="2"/>
              </a:rPr>
              <a:t></a:t>
            </a:r>
            <a: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deadlock</a:t>
            </a:r>
            <a:b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br>
            <a:endPar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339725" marR="0" lvl="0" indent="-339725" algn="l" defTabSz="914400" rtl="0" eaLnBrk="1" fontAlgn="auto" latinLnBrk="0" hangingPunct="1">
              <a:lnSpc>
                <a:spcPct val="100000"/>
              </a:lnSpc>
              <a:spcBef>
                <a:spcPts val="700"/>
              </a:spcBef>
              <a:spcAft>
                <a:spcPts val="0"/>
              </a:spcAft>
              <a:buClr>
                <a:srgbClr val="993300"/>
              </a:buClr>
              <a:buSzPct val="90000"/>
              <a:buFont typeface="Monotype Sorts"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kumimoji="0" lang="en-GB" sz="2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 resource allocation graph contains a cycle and </a:t>
            </a:r>
            <a: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if </a:t>
            </a:r>
            <a:r>
              <a:rPr kumimoji="0" lang="en-GB" sz="2400" b="0" i="0" u="sng"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several</a:t>
            </a:r>
            <a: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instances exists per resource type </a:t>
            </a:r>
            <a:r>
              <a:rPr kumimoji="0" lang="en-GB" sz="2800" b="0" i="0" u="none" strike="noStrike" kern="1200" cap="none" spc="0" normalizeH="0" baseline="0" noProof="0" dirty="0" smtClean="0">
                <a:ln>
                  <a:noFill/>
                </a:ln>
                <a:solidFill>
                  <a:srgbClr val="000000"/>
                </a:solidFill>
                <a:effectLst/>
                <a:uLnTx/>
                <a:uFillTx/>
                <a:latin typeface="Symbol" panose="05050102010706020507" pitchFamily="18" charset="2"/>
                <a:ea typeface="Symbol" panose="05050102010706020507" pitchFamily="18" charset="2"/>
                <a:cs typeface="Symbol" panose="05050102010706020507" pitchFamily="18" charset="2"/>
              </a:rPr>
              <a:t></a:t>
            </a:r>
            <a:r>
              <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rPr>
              <a:t> possibility of deadlock</a:t>
            </a:r>
            <a:endParaRPr kumimoji="0" lang="en-GB" sz="24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1"/>
          <p:cNvSpPr>
            <a:spLocks noGrp="1"/>
          </p:cNvSpPr>
          <p:nvPr>
            <p:ph type="title"/>
          </p:nvPr>
        </p:nvSpPr>
        <p:spPr>
          <a:ln/>
        </p:spPr>
        <p:txBody>
          <a:bodyPr vert="horz" wrap="square" lIns="0" tIns="45720" rIns="0" bIns="0" anchor="b" anchorCtr="0"/>
          <a:p>
            <a:pPr eaLnBrk="1" hangingPunct="1"/>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fontScale="850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In order to recover the system from deadlocks, either OS considers resources or processes.</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For Resource</a:t>
            </a:r>
            <a:endParaRPr kumimoji="0" lang="en-US" sz="26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Preempt the resource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2" indent="-247015" algn="l" defTabSz="914400" rtl="0" eaLnBrk="1" fontAlgn="auto" latinLnBrk="0" hangingPunct="1">
              <a:lnSpc>
                <a:spcPct val="100000"/>
              </a:lnSpc>
              <a:spcBef>
                <a:spcPct val="20000"/>
              </a:spcBef>
              <a:spcAft>
                <a:spcPts val="0"/>
              </a:spcAft>
              <a:buClr>
                <a:schemeClr val="accent2"/>
              </a:buClr>
              <a:buSzPct val="7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We can snatch one of the resources from the owner of the resource (process) and give it to the other process with the expectation that it will complete the execution and will release this resource sooner. Well, choosing a resource which will be snatched is going to be a bit difficult.</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Rollback to a safe state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2" indent="-247015" algn="l" defTabSz="914400" rtl="0" eaLnBrk="1" fontAlgn="auto" latinLnBrk="0" hangingPunct="1">
              <a:lnSpc>
                <a:spcPct val="100000"/>
              </a:lnSpc>
              <a:spcBef>
                <a:spcPct val="20000"/>
              </a:spcBef>
              <a:spcAft>
                <a:spcPts val="0"/>
              </a:spcAft>
              <a:buClr>
                <a:schemeClr val="accent2"/>
              </a:buClr>
              <a:buSzPct val="7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System passes through various states to get into the deadlock state. The operating system can rollback the system to the previous safe state. For this purpose, OS needs to implement check pointing at every state.</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914400" marR="0" lvl="2" indent="-247015" algn="l" defTabSz="914400" rtl="0" eaLnBrk="1" fontAlgn="auto" latinLnBrk="0" hangingPunct="1">
              <a:lnSpc>
                <a:spcPct val="100000"/>
              </a:lnSpc>
              <a:spcBef>
                <a:spcPct val="20000"/>
              </a:spcBef>
              <a:spcAft>
                <a:spcPts val="0"/>
              </a:spcAft>
              <a:buClr>
                <a:schemeClr val="accent2"/>
              </a:buClr>
              <a:buSzPct val="70000"/>
              <a:buFont typeface="Wingdings 2" panose="05020102010507070707"/>
              <a:buChar char=""/>
              <a:defRPr/>
            </a:pPr>
            <a:r>
              <a:rPr kumimoji="0" lang="en-US" sz="2100" b="0" i="0" u="none" strike="noStrike" kern="1200" cap="none" spc="0" normalizeH="0" baseline="0" noProof="0" dirty="0" smtClean="0">
                <a:ln>
                  <a:noFill/>
                </a:ln>
                <a:solidFill>
                  <a:schemeClr val="tx1"/>
                </a:solidFill>
                <a:effectLst/>
                <a:uLnTx/>
                <a:uFillTx/>
                <a:latin typeface="+mn-lt"/>
                <a:ea typeface="+mn-ea"/>
                <a:cs typeface="+mn-cs"/>
              </a:rPr>
              <a:t>The moment, we get into deadlock, we will rollback all the allocations to get into the previous safe state.</a:t>
            </a:r>
            <a:endParaRPr kumimoji="0" lang="en-US" sz="21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1"/>
          <p:cNvSpPr>
            <a:spLocks noGrp="1"/>
          </p:cNvSpPr>
          <p:nvPr>
            <p:ph type="title"/>
          </p:nvPr>
        </p:nvSpPr>
        <p:spPr>
          <a:ln/>
        </p:spPr>
        <p:txBody>
          <a:bodyPr vert="horz" wrap="square" lIns="0" tIns="45720" rIns="0" bIns="0" anchor="b" anchorCtr="0"/>
          <a:p>
            <a:pPr eaLnBrk="1" hangingPunct="1"/>
            <a:endParaRPr dirty="0"/>
          </a:p>
        </p:txBody>
      </p:sp>
      <p:sp>
        <p:nvSpPr>
          <p:cNvPr id="38915" name="Content Placeholder 2"/>
          <p:cNvSpPr>
            <a:spLocks noGrp="1"/>
          </p:cNvSpPr>
          <p:nvPr>
            <p:ph idx="1"/>
          </p:nvPr>
        </p:nvSpPr>
        <p:spPr>
          <a:ln/>
        </p:spPr>
        <p:txBody>
          <a:bodyPr vert="horz" wrap="square" lIns="91440" tIns="45720" rIns="91440" bIns="45720" anchor="t" anchorCtr="0"/>
          <a:p>
            <a:pPr eaLnBrk="1" hangingPunct="1"/>
            <a:r>
              <a:rPr b="1" dirty="0"/>
              <a:t>For Process</a:t>
            </a:r>
            <a:endParaRPr b="1" dirty="0"/>
          </a:p>
          <a:p>
            <a:pPr lvl="1" eaLnBrk="1" hangingPunct="1"/>
            <a:r>
              <a:rPr dirty="0"/>
              <a:t>Kill a process</a:t>
            </a:r>
            <a:endParaRPr dirty="0"/>
          </a:p>
          <a:p>
            <a:pPr lvl="2" eaLnBrk="1" hangingPunct="1"/>
            <a:r>
              <a:rPr dirty="0"/>
              <a:t>Killing a process can solve our problem but the bigger concern is to decide which process to kill. Generally, Operating system kills a process which has done least amount of work until now.</a:t>
            </a:r>
            <a:endParaRPr dirty="0"/>
          </a:p>
          <a:p>
            <a:pPr lvl="1" eaLnBrk="1" hangingPunct="1"/>
            <a:r>
              <a:rPr dirty="0"/>
              <a:t>Kill all process</a:t>
            </a:r>
            <a:endParaRPr dirty="0"/>
          </a:p>
          <a:p>
            <a:pPr lvl="2" eaLnBrk="1" hangingPunct="1"/>
            <a:r>
              <a:rPr dirty="0"/>
              <a:t>This is not a suggestible approach but can be implemented if the problem becomes very serious. Killing all process will lead to inefficiency in the system because all the processes will execute again from starting.</a:t>
            </a:r>
            <a:endParaRPr dirty="0"/>
          </a:p>
          <a:p>
            <a:pPr eaLnBrk="1" hangingPunct="1">
              <a:buNone/>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smtClean="0">
                <a:ln>
                  <a:noFill/>
                </a:ln>
                <a:solidFill>
                  <a:schemeClr val="tx2"/>
                </a:solidFill>
                <a:effectLst/>
                <a:uLnTx/>
                <a:uFillTx/>
                <a:latin typeface="+mj-lt"/>
                <a:ea typeface="+mj-ea"/>
                <a:cs typeface="+mj-cs"/>
              </a:rPr>
              <a:t> Banker’s Algorithm</a:t>
            </a:r>
            <a:br>
              <a:rPr kumimoji="0" lang="en-US" sz="5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9939" name="Content Placeholder 2"/>
          <p:cNvSpPr>
            <a:spLocks noGrp="1"/>
          </p:cNvSpPr>
          <p:nvPr>
            <p:ph idx="1"/>
          </p:nvPr>
        </p:nvSpPr>
        <p:spPr>
          <a:xfrm>
            <a:off x="457200" y="1447800"/>
            <a:ext cx="8229600" cy="4876800"/>
          </a:xfrm>
          <a:ln/>
        </p:spPr>
        <p:txBody>
          <a:bodyPr vert="horz" wrap="square" lIns="91440" tIns="45720" rIns="91440" bIns="45720" anchor="t" anchorCtr="0"/>
          <a:p>
            <a:pPr eaLnBrk="1" hangingPunct="1"/>
            <a:r>
              <a:rPr dirty="0"/>
              <a:t>The banker’s algorithm is a resource allocation and deadlock avoidance algorithm.</a:t>
            </a:r>
            <a:endParaRPr dirty="0"/>
          </a:p>
          <a:p>
            <a:pPr eaLnBrk="1" hangingPunct="1"/>
            <a:r>
              <a:rPr dirty="0"/>
              <a:t>Let </a:t>
            </a:r>
            <a:r>
              <a:rPr b="1" dirty="0"/>
              <a:t>‘n’ </a:t>
            </a:r>
            <a:r>
              <a:rPr dirty="0"/>
              <a:t>be the number of processes in the system and </a:t>
            </a:r>
            <a:r>
              <a:rPr b="1" dirty="0"/>
              <a:t>‘m’ </a:t>
            </a:r>
            <a:r>
              <a:rPr dirty="0"/>
              <a:t>be the number of resources types.</a:t>
            </a:r>
            <a:endParaRPr dirty="0"/>
          </a:p>
          <a:p>
            <a:pPr eaLnBrk="1" hangingPunct="1"/>
            <a:r>
              <a:rPr dirty="0"/>
              <a:t>Allocation</a:t>
            </a:r>
            <a:r>
              <a:rPr baseline="-25000" dirty="0"/>
              <a:t>i</a:t>
            </a:r>
            <a:r>
              <a:rPr dirty="0"/>
              <a:t> specifies the resources currently allocated to process P</a:t>
            </a:r>
            <a:r>
              <a:rPr baseline="-25000" dirty="0"/>
              <a:t>i</a:t>
            </a:r>
            <a:r>
              <a:rPr dirty="0"/>
              <a:t> and Need</a:t>
            </a:r>
            <a:r>
              <a:rPr baseline="-25000" dirty="0"/>
              <a:t>i</a:t>
            </a:r>
            <a:r>
              <a:rPr dirty="0"/>
              <a:t> specifies the additional resources that process P</a:t>
            </a:r>
            <a:r>
              <a:rPr baseline="-25000" dirty="0"/>
              <a:t>i</a:t>
            </a:r>
            <a:r>
              <a:rPr dirty="0"/>
              <a:t> may still request to complete its task.</a:t>
            </a:r>
            <a:endParaRPr dirty="0"/>
          </a:p>
          <a:p>
            <a:pPr eaLnBrk="1" hangingPunct="1"/>
            <a:r>
              <a:rPr dirty="0"/>
              <a:t>Banker’s algorithm consist of Safety algorithm and Resource request algorithm</a:t>
            </a:r>
            <a:endParaRPr dirty="0"/>
          </a:p>
          <a:p>
            <a:pPr eaLnBrk="1" hangingPunct="1"/>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itle 1"/>
          <p:cNvSpPr>
            <a:spLocks noGrp="1"/>
          </p:cNvSpPr>
          <p:nvPr>
            <p:ph type="title"/>
          </p:nvPr>
        </p:nvSpPr>
        <p:spPr>
          <a:ln/>
        </p:spPr>
        <p:txBody>
          <a:bodyPr vert="horz" wrap="square" lIns="0" tIns="45720" rIns="0" bIns="0" anchor="b" anchorCtr="0"/>
          <a:p>
            <a:pPr eaLnBrk="1" hangingPunct="1"/>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fontScale="85000" lnSpcReduction="20000"/>
          </a:bodyPr>
          <a:lstStyle/>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Safety Algorithm</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The algorithm for finding out whether or not a system is in a safe state can be described as follows:</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base"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1) Let Work and Finish be vectors of length ‘m’ and ‘n’ respectively.</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Initialize: Work = Available</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Finish[</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 false; for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=1, 2, 3, 4….n</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base"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2) Find an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such that both</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a) Finish[</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 false</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b)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Need</a:t>
            </a:r>
            <a:r>
              <a:rPr kumimoji="0" lang="en-US" sz="24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&lt;= Work</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if no such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exists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goto</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step (4)</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base"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3) Work = Work + Allocation[</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Finish[</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 true</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goto</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step (2)</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7015" algn="l" defTabSz="914400" rtl="0" eaLnBrk="1" fontAlgn="base"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4) if Finish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 true for all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i</a:t>
            </a:r>
            <a:br>
              <a:rPr kumimoji="0" lang="en-US" sz="2400" b="0" i="0" u="none" strike="noStrike" kern="1200" cap="none" spc="0" normalizeH="0" baseline="0" noProof="0" dirty="0" smtClean="0">
                <a:ln>
                  <a:noFill/>
                </a:ln>
                <a:solidFill>
                  <a:schemeClr val="tx1"/>
                </a:solidFill>
                <a:effectLst/>
                <a:uLnTx/>
                <a:uFillTx/>
                <a:latin typeface="+mn-lt"/>
                <a:ea typeface="+mn-ea"/>
                <a:cs typeface="+mn-cs"/>
              </a:rPr>
            </a:b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then the system is in a safe state</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itle 1"/>
          <p:cNvSpPr>
            <a:spLocks noGrp="1"/>
          </p:cNvSpPr>
          <p:nvPr>
            <p:ph type="title"/>
          </p:nvPr>
        </p:nvSpPr>
        <p:spPr>
          <a:ln/>
        </p:spPr>
        <p:txBody>
          <a:bodyPr vert="horz" wrap="square" lIns="0" tIns="45720" rIns="0" bIns="0" anchor="b" anchorCtr="0"/>
          <a:p>
            <a:pPr eaLnBrk="1" hangingPunct="1"/>
            <a:endParaRPr dirty="0"/>
          </a:p>
        </p:txBody>
      </p:sp>
      <p:sp>
        <p:nvSpPr>
          <p:cNvPr id="3" name="Content Placeholder 2"/>
          <p:cNvSpPr>
            <a:spLocks noGrp="1"/>
          </p:cNvSpPr>
          <p:nvPr>
            <p:ph idx="1"/>
          </p:nvPr>
        </p:nvSpPr>
        <p:spPr>
          <a:xfrm>
            <a:off x="457200" y="1935163"/>
            <a:ext cx="8229600" cy="4389438"/>
          </a:xfrm>
        </p:spPr>
        <p:txBody>
          <a:bodyPr vert="horz" wrap="square" lIns="91440" tIns="45720" rIns="91440" bIns="45720" numCol="1" anchor="t" anchorCtr="0" compatLnSpc="1">
            <a:normAutofit fontScale="77500" lnSpcReduction="20000"/>
          </a:bodyPr>
          <a:lstStyle/>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Resource-Request Algorithm</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Let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be the request array for process P</a:t>
            </a:r>
            <a:r>
              <a:rPr kumimoji="0" lang="en-US" sz="2600" b="0" i="0" u="none" strike="noStrike" kern="1200" cap="none" spc="0" normalizeH="0" baseline="-25000" noProof="0" dirty="0"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25000" noProof="0" dirty="0" smtClean="0">
                <a:ln>
                  <a:noFill/>
                </a:ln>
                <a:solidFill>
                  <a:schemeClr val="tx1"/>
                </a:solidFill>
                <a:effectLst/>
                <a:uLnTx/>
                <a:uFillTx/>
                <a:latin typeface="+mn-lt"/>
                <a:ea typeface="+mn-ea"/>
                <a:cs typeface="+mn-cs"/>
              </a:rPr>
              <a:t> </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[j] = k means process P</a:t>
            </a:r>
            <a:r>
              <a:rPr kumimoji="0" lang="en-US" sz="2600" b="0" i="0" u="none" strike="noStrike" kern="1200" cap="none" spc="0" normalizeH="0" baseline="-25000" noProof="0" dirty="0"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wants k instances of resource type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j</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When a request for resources is made by process P</a:t>
            </a:r>
            <a:r>
              <a:rPr kumimoji="0" lang="en-US" sz="2600" b="0" i="0" u="none" strike="noStrike" kern="1200" cap="none" spc="0" normalizeH="0" baseline="-25000" noProof="0" dirty="0"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the following actions are taken: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1) If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&lt;=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Need</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Goto</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step (2) ; otherwise, raise an error condition, since the process has exceeded its maximum claim.</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2) If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&lt;= Available</a:t>
            </a: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Goto</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step (3); otherwise, P</a:t>
            </a:r>
            <a:r>
              <a:rPr kumimoji="0" lang="en-US" sz="2600" b="0" i="0" u="none" strike="noStrike" kern="1200" cap="none" spc="0" normalizeH="0" baseline="-25000" noProof="0" dirty="0"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must wait, since the resources are not available.</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3) Have the system pretend to have allocated the requested resources to process Pi by modifying the state as</a:t>
            </a: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r>
              <a:rPr kumimoji="0" lang="en-US" sz="2600" b="0" i="0" u="none" strike="noStrike" kern="1200" cap="none" spc="0" normalizeH="0" baseline="0" noProof="0" dirty="0" smtClean="0">
                <a:ln>
                  <a:noFill/>
                </a:ln>
                <a:solidFill>
                  <a:schemeClr val="tx1"/>
                </a:solidFill>
                <a:effectLst/>
                <a:uLnTx/>
                <a:uFillTx/>
                <a:latin typeface="+mn-lt"/>
                <a:ea typeface="+mn-ea"/>
                <a:cs typeface="+mn-cs"/>
              </a:rPr>
              <a:t>follows:</a:t>
            </a: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r>
              <a:rPr kumimoji="0" lang="en-US" sz="2600" b="0" i="0" u="none" strike="noStrike" kern="1200" cap="none" spc="0" normalizeH="0" baseline="0" noProof="0" dirty="0" smtClean="0">
                <a:ln>
                  <a:noFill/>
                </a:ln>
                <a:solidFill>
                  <a:schemeClr val="tx1"/>
                </a:solidFill>
                <a:effectLst/>
                <a:uLnTx/>
                <a:uFillTx/>
                <a:latin typeface="+mn-lt"/>
                <a:ea typeface="+mn-ea"/>
                <a:cs typeface="+mn-cs"/>
              </a:rPr>
              <a:t>Available = Available –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Requesti</a:t>
            </a: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Allocation</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Allocation</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br>
              <a:rPr kumimoji="0" lang="en-US" sz="2600" b="0" i="0" u="none" strike="noStrike" kern="1200" cap="none" spc="0" normalizeH="0" baseline="0" noProof="0" dirty="0" smtClean="0">
                <a:ln>
                  <a:noFill/>
                </a:ln>
                <a:solidFill>
                  <a:schemeClr val="tx1"/>
                </a:solidFill>
                <a:effectLst/>
                <a:uLnTx/>
                <a:uFillTx/>
                <a:latin typeface="+mn-lt"/>
                <a:ea typeface="+mn-ea"/>
                <a:cs typeface="+mn-cs"/>
              </a:rPr>
            </a:b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Need</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Need</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0" i="0" u="none" strike="noStrike" kern="1200" cap="none" spc="0" normalizeH="0" baseline="0" noProof="0" dirty="0" err="1" smtClean="0">
                <a:ln>
                  <a:noFill/>
                </a:ln>
                <a:solidFill>
                  <a:schemeClr val="tx1"/>
                </a:solidFill>
                <a:effectLst/>
                <a:uLnTx/>
                <a:uFillTx/>
                <a:latin typeface="+mn-lt"/>
                <a:ea typeface="+mn-ea"/>
                <a:cs typeface="+mn-cs"/>
              </a:rPr>
              <a:t>Request</a:t>
            </a:r>
            <a:r>
              <a:rPr kumimoji="0" lang="en-US" sz="2600" b="0" i="0" u="none" strike="noStrike" kern="1200" cap="none" spc="0" normalizeH="0" baseline="-25000" noProof="0" dirty="0" err="1" smtClean="0">
                <a:ln>
                  <a:noFill/>
                </a:ln>
                <a:solidFill>
                  <a:schemeClr val="tx1"/>
                </a:solidFill>
                <a:effectLst/>
                <a:uLnTx/>
                <a:uFillTx/>
                <a:latin typeface="+mn-lt"/>
                <a:ea typeface="+mn-ea"/>
                <a:cs typeface="+mn-cs"/>
              </a:rPr>
              <a:t>i</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2095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457200" y="1447800"/>
            <a:ext cx="8229600" cy="1752600"/>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base"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1" i="0" u="none" strike="noStrike" kern="1200" cap="none" spc="0" normalizeH="0" baseline="0" noProof="0" dirty="0" smtClean="0">
                <a:ln>
                  <a:noFill/>
                </a:ln>
                <a:solidFill>
                  <a:schemeClr val="tx1"/>
                </a:solidFill>
                <a:effectLst/>
                <a:uLnTx/>
                <a:uFillTx/>
                <a:latin typeface="+mn-lt"/>
                <a:ea typeface="+mn-ea"/>
                <a:cs typeface="+mn-cs"/>
              </a:rPr>
              <a:t>Example: Considering a system with five processes P</a:t>
            </a:r>
            <a:r>
              <a:rPr kumimoji="0" lang="en-US" sz="2600" b="1" i="0" u="none" strike="noStrike" kern="1200" cap="none" spc="0" normalizeH="0" baseline="-25000" noProof="0" dirty="0" smtClean="0">
                <a:ln>
                  <a:noFill/>
                </a:ln>
                <a:solidFill>
                  <a:schemeClr val="tx1"/>
                </a:solidFill>
                <a:effectLst/>
                <a:uLnTx/>
                <a:uFillTx/>
                <a:latin typeface="+mn-lt"/>
                <a:ea typeface="+mn-ea"/>
                <a:cs typeface="+mn-cs"/>
              </a:rPr>
              <a:t>0</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 through P</a:t>
            </a:r>
            <a:r>
              <a:rPr kumimoji="0" lang="en-US" sz="2600" b="1" i="0" u="none" strike="noStrike" kern="1200" cap="none" spc="0" normalizeH="0" baseline="-25000" noProof="0" dirty="0" smtClean="0">
                <a:ln>
                  <a:noFill/>
                </a:ln>
                <a:solidFill>
                  <a:schemeClr val="tx1"/>
                </a:solidFill>
                <a:effectLst/>
                <a:uLnTx/>
                <a:uFillTx/>
                <a:latin typeface="+mn-lt"/>
                <a:ea typeface="+mn-ea"/>
                <a:cs typeface="+mn-cs"/>
              </a:rPr>
              <a:t>4</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 and three resources types A, B, C. Resource type A has 10 instances, B has 5 instances and type C has 7 instances. Suppose at time t</a:t>
            </a:r>
            <a:r>
              <a:rPr kumimoji="0" lang="en-US" sz="2600" b="1" i="0" u="none" strike="noStrike" kern="1200" cap="none" spc="0" normalizeH="0" baseline="-25000" noProof="0" dirty="0" smtClean="0">
                <a:ln>
                  <a:noFill/>
                </a:ln>
                <a:solidFill>
                  <a:schemeClr val="tx1"/>
                </a:solidFill>
                <a:effectLst/>
                <a:uLnTx/>
                <a:uFillTx/>
                <a:latin typeface="+mn-lt"/>
                <a:ea typeface="+mn-ea"/>
                <a:cs typeface="+mn-cs"/>
              </a:rPr>
              <a:t>0</a:t>
            </a:r>
            <a:r>
              <a:rPr kumimoji="0" lang="en-US" sz="2600" b="1" i="0" u="none" strike="noStrike" kern="1200" cap="none" spc="0" normalizeH="0" baseline="0" noProof="0" dirty="0" smtClean="0">
                <a:ln>
                  <a:noFill/>
                </a:ln>
                <a:solidFill>
                  <a:schemeClr val="tx1"/>
                </a:solidFill>
                <a:effectLst/>
                <a:uLnTx/>
                <a:uFillTx/>
                <a:latin typeface="+mn-lt"/>
                <a:ea typeface="+mn-ea"/>
                <a:cs typeface="+mn-cs"/>
              </a:rPr>
              <a:t> following snapshot of the system has been taken:</a:t>
            </a:r>
            <a:endParaRPr kumimoji="0" lang="en-US" sz="26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pic>
        <p:nvPicPr>
          <p:cNvPr id="43012" name="Picture 3" descr="C:\Users\ASHU\Desktop\safety.png"/>
          <p:cNvPicPr>
            <a:picLocks noChangeAspect="1"/>
          </p:cNvPicPr>
          <p:nvPr/>
        </p:nvPicPr>
        <p:blipFill>
          <a:blip r:embed="rId1"/>
          <a:stretch>
            <a:fillRect/>
          </a:stretch>
        </p:blipFill>
        <p:spPr>
          <a:xfrm>
            <a:off x="609600" y="3124200"/>
            <a:ext cx="8280400" cy="335280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704850"/>
            <a:ext cx="8229600" cy="6667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44035" name="Content Placeholder 2"/>
          <p:cNvSpPr>
            <a:spLocks noGrp="1"/>
          </p:cNvSpPr>
          <p:nvPr>
            <p:ph idx="1"/>
          </p:nvPr>
        </p:nvSpPr>
        <p:spPr>
          <a:xfrm>
            <a:off x="457200" y="1524000"/>
            <a:ext cx="8229600" cy="4800600"/>
          </a:xfrm>
          <a:ln/>
        </p:spPr>
        <p:txBody>
          <a:bodyPr vert="horz" wrap="square" lIns="91440" tIns="45720" rIns="91440" bIns="45720" anchor="t" anchorCtr="0"/>
          <a:p>
            <a:pPr eaLnBrk="1" hangingPunct="1"/>
            <a:r>
              <a:rPr b="1" dirty="0"/>
              <a:t>Question1. What will be the content of the Need matrix?</a:t>
            </a:r>
            <a:endParaRPr dirty="0"/>
          </a:p>
          <a:p>
            <a:pPr eaLnBrk="1" hangingPunct="1"/>
            <a:r>
              <a:rPr dirty="0"/>
              <a:t>Need [i, j] = Max [i, j] – Allocation [i, j]</a:t>
            </a:r>
            <a:endParaRPr dirty="0"/>
          </a:p>
          <a:p>
            <a:pPr eaLnBrk="1" hangingPunct="1"/>
            <a:r>
              <a:rPr dirty="0"/>
              <a:t>So, the content of Need Matrix is:</a:t>
            </a:r>
            <a:endParaRPr dirty="0"/>
          </a:p>
          <a:p>
            <a:pPr eaLnBrk="1" hangingPunct="1"/>
            <a:endParaRPr dirty="0"/>
          </a:p>
        </p:txBody>
      </p:sp>
      <p:pic>
        <p:nvPicPr>
          <p:cNvPr id="44036" name="Picture 2" descr="C:\Users\ASHU\Desktop\unnamed.png"/>
          <p:cNvPicPr>
            <a:picLocks noChangeAspect="1"/>
          </p:cNvPicPr>
          <p:nvPr/>
        </p:nvPicPr>
        <p:blipFill>
          <a:blip r:embed="rId1"/>
          <a:stretch>
            <a:fillRect/>
          </a:stretch>
        </p:blipFill>
        <p:spPr>
          <a:xfrm>
            <a:off x="2667000" y="3505200"/>
            <a:ext cx="3352800" cy="3103563"/>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Content Placeholder 2"/>
          <p:cNvSpPr>
            <a:spLocks noGrp="1"/>
          </p:cNvSpPr>
          <p:nvPr>
            <p:ph idx="1"/>
          </p:nvPr>
        </p:nvSpPr>
        <p:spPr>
          <a:xfrm>
            <a:off x="0" y="609600"/>
            <a:ext cx="8229600" cy="5715000"/>
          </a:xfrm>
          <a:ln/>
        </p:spPr>
        <p:txBody>
          <a:bodyPr vert="horz" wrap="square" lIns="91440" tIns="45720" rIns="91440" bIns="45720" anchor="t" anchorCtr="0"/>
          <a:p>
            <a:pPr eaLnBrk="1" hangingPunct="1"/>
            <a:r>
              <a:rPr b="1" dirty="0"/>
              <a:t>Question2.  Is the system in safe state? If Yes, then what is the safe sequence?</a:t>
            </a:r>
            <a:endParaRPr dirty="0"/>
          </a:p>
          <a:p>
            <a:pPr eaLnBrk="1" hangingPunct="1"/>
            <a:endParaRPr dirty="0"/>
          </a:p>
        </p:txBody>
      </p:sp>
      <p:pic>
        <p:nvPicPr>
          <p:cNvPr id="45059" name="Picture 2" descr="C:\Users\ASHU\Desktop\questionsolved-1024x632.png"/>
          <p:cNvPicPr>
            <a:picLocks noChangeAspect="1"/>
          </p:cNvPicPr>
          <p:nvPr/>
        </p:nvPicPr>
        <p:blipFill>
          <a:blip r:embed="rId1"/>
          <a:stretch>
            <a:fillRect/>
          </a:stretch>
        </p:blipFill>
        <p:spPr>
          <a:xfrm>
            <a:off x="457200" y="1600200"/>
            <a:ext cx="8382000" cy="5173663"/>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Content Placeholder 2"/>
          <p:cNvSpPr>
            <a:spLocks noGrp="1"/>
          </p:cNvSpPr>
          <p:nvPr>
            <p:ph idx="1"/>
          </p:nvPr>
        </p:nvSpPr>
        <p:spPr>
          <a:xfrm>
            <a:off x="0" y="609600"/>
            <a:ext cx="9144000" cy="5715000"/>
          </a:xfrm>
          <a:ln/>
        </p:spPr>
        <p:txBody>
          <a:bodyPr vert="horz" wrap="square" lIns="91440" tIns="45720" rIns="91440" bIns="45720" anchor="t" anchorCtr="0"/>
          <a:p>
            <a:pPr eaLnBrk="1" hangingPunct="1"/>
            <a:r>
              <a:rPr b="1" dirty="0"/>
              <a:t>Question3. What will happen if process P</a:t>
            </a:r>
            <a:r>
              <a:rPr b="1" baseline="-25000" dirty="0"/>
              <a:t>1 </a:t>
            </a:r>
            <a:r>
              <a:rPr b="1" dirty="0"/>
              <a:t>requests one additional instance of resource type A and two instances of resource type C?</a:t>
            </a:r>
            <a:br>
              <a:rPr dirty="0">
                <a:hlinkClick r:id="rId1"/>
              </a:rPr>
            </a:br>
            <a:endParaRPr dirty="0"/>
          </a:p>
        </p:txBody>
      </p:sp>
      <p:pic>
        <p:nvPicPr>
          <p:cNvPr id="46083" name="Picture 2" descr="C:\Users\ASHU\Desktop\Allocation.png"/>
          <p:cNvPicPr>
            <a:picLocks noChangeAspect="1"/>
          </p:cNvPicPr>
          <p:nvPr/>
        </p:nvPicPr>
        <p:blipFill>
          <a:blip r:embed="rId2"/>
          <a:stretch>
            <a:fillRect/>
          </a:stretch>
        </p:blipFill>
        <p:spPr>
          <a:xfrm>
            <a:off x="381000" y="1905000"/>
            <a:ext cx="8486775" cy="47244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itle 1"/>
          <p:cNvSpPr>
            <a:spLocks noGrp="1"/>
          </p:cNvSpPr>
          <p:nvPr>
            <p:ph type="title"/>
          </p:nvPr>
        </p:nvSpPr>
        <p:spPr>
          <a:ln/>
        </p:spPr>
        <p:txBody>
          <a:bodyPr vert="horz" wrap="square" lIns="0" tIns="45720" rIns="0" bIns="0" anchor="b" anchorCtr="0"/>
          <a:p>
            <a:pPr eaLnBrk="1" hangingPunct="1"/>
            <a:endParaRPr dirty="0"/>
          </a:p>
        </p:txBody>
      </p:sp>
      <p:pic>
        <p:nvPicPr>
          <p:cNvPr id="47107" name="Picture 2" descr="C:\Users\ASHU\Desktop\Q31-1024x636.png"/>
          <p:cNvPicPr>
            <a:picLocks noGrp="1" noChangeAspect="1"/>
          </p:cNvPicPr>
          <p:nvPr>
            <p:ph idx="1"/>
          </p:nvPr>
        </p:nvPicPr>
        <p:blipFill>
          <a:blip r:embed="rId1"/>
          <a:srcRect/>
          <a:stretch>
            <a:fillRect/>
          </a:stretch>
        </p:blipFill>
        <p:spPr>
          <a:xfrm>
            <a:off x="187325" y="838200"/>
            <a:ext cx="8956675" cy="6019800"/>
          </a:xfr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itle 1"/>
          <p:cNvSpPr>
            <a:spLocks noGrp="1"/>
          </p:cNvSpPr>
          <p:nvPr>
            <p:ph type="title"/>
          </p:nvPr>
        </p:nvSpPr>
        <p:spPr>
          <a:ln/>
        </p:spPr>
        <p:txBody>
          <a:bodyPr vert="horz" wrap="square" lIns="0" tIns="45720" rIns="0" bIns="0" anchor="b" anchorCtr="0"/>
          <a:p>
            <a:pPr eaLnBrk="1" hangingPunct="1"/>
            <a:endParaRPr dirty="0"/>
          </a:p>
        </p:txBody>
      </p:sp>
      <p:sp>
        <p:nvSpPr>
          <p:cNvPr id="48131" name="Content Placeholder 2"/>
          <p:cNvSpPr>
            <a:spLocks noGrp="1"/>
          </p:cNvSpPr>
          <p:nvPr>
            <p:ph idx="1"/>
          </p:nvPr>
        </p:nvSpPr>
        <p:spPr>
          <a:ln/>
        </p:spPr>
        <p:txBody>
          <a:bodyPr vert="horz" wrap="square" lIns="91440" tIns="45720" rIns="91440" bIns="45720" anchor="t" anchorCtr="0"/>
          <a:p>
            <a:pPr eaLnBrk="1" hangingPunct="1"/>
            <a:r>
              <a:rPr dirty="0"/>
              <a:t>What if P4 requests (3,3,0)?</a:t>
            </a:r>
            <a:endParaRPr dirty="0"/>
          </a:p>
          <a:p>
            <a:pPr eaLnBrk="1" hangingPunct="1"/>
            <a:r>
              <a:rPr dirty="0"/>
              <a:t>P0 requests (0,2,0)?</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1"/>
          <p:cNvSpPr>
            <a:spLocks noGrp="1"/>
          </p:cNvSpPr>
          <p:nvPr>
            <p:ph type="title"/>
          </p:nvPr>
        </p:nvSpPr>
        <p:spPr>
          <a:ln/>
        </p:spPr>
        <p:txBody>
          <a:bodyPr vert="horz" wrap="square" lIns="0" tIns="45720" rIns="0" bIns="0" anchor="b" anchorCtr="0"/>
          <a:p>
            <a:endParaRPr dirty="0"/>
          </a:p>
        </p:txBody>
      </p:sp>
      <p:pic>
        <p:nvPicPr>
          <p:cNvPr id="49155" name="Picture 2" descr="https://fchat.s3.ap-south-1.amazonaws.com/default/vmgoI9BFze.1615793469647.jpg"/>
          <p:cNvPicPr>
            <a:picLocks noGrp="1" noChangeAspect="1"/>
          </p:cNvPicPr>
          <p:nvPr>
            <p:ph idx="1"/>
          </p:nvPr>
        </p:nvPicPr>
        <p:blipFill>
          <a:blip r:embed="rId1"/>
          <a:srcRect/>
          <a:stretch>
            <a:fillRect/>
          </a:stretch>
        </p:blipFill>
        <p:spPr>
          <a:xfrm>
            <a:off x="1676400" y="852488"/>
            <a:ext cx="5486400" cy="5776912"/>
          </a:xfr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itle 1"/>
          <p:cNvSpPr>
            <a:spLocks noGrp="1"/>
          </p:cNvSpPr>
          <p:nvPr>
            <p:ph type="title"/>
          </p:nvPr>
        </p:nvSpPr>
        <p:spPr>
          <a:ln/>
        </p:spPr>
        <p:txBody>
          <a:bodyPr vert="horz" wrap="square" lIns="0" tIns="45720" rIns="0" bIns="0" anchor="b" anchorCtr="0"/>
          <a:p>
            <a:endParaRPr dirty="0"/>
          </a:p>
        </p:txBody>
      </p:sp>
      <p:sp>
        <p:nvSpPr>
          <p:cNvPr id="50179" name="Content Placeholder 2"/>
          <p:cNvSpPr>
            <a:spLocks noGrp="1"/>
          </p:cNvSpPr>
          <p:nvPr>
            <p:ph idx="1"/>
          </p:nvPr>
        </p:nvSpPr>
        <p:spPr>
          <a:ln/>
        </p:spPr>
        <p:txBody>
          <a:bodyPr vert="horz" wrap="square" lIns="91440" tIns="45720" rIns="91440" bIns="45720" anchor="t" anchorCtr="0"/>
          <a:p>
            <a:endParaRPr dirty="0"/>
          </a:p>
        </p:txBody>
      </p:sp>
      <p:pic>
        <p:nvPicPr>
          <p:cNvPr id="50180" name="Picture 2" descr="https://fchat.s3.ap-south-1.amazonaws.com/default/bzW7xf7Iph.1615793461748.jpg"/>
          <p:cNvPicPr>
            <a:picLocks noChangeAspect="1"/>
          </p:cNvPicPr>
          <p:nvPr/>
        </p:nvPicPr>
        <p:blipFill>
          <a:blip r:embed="rId1"/>
          <a:stretch>
            <a:fillRect/>
          </a:stretch>
        </p:blipFill>
        <p:spPr>
          <a:xfrm>
            <a:off x="1981200" y="838200"/>
            <a:ext cx="5334000" cy="579120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itle 1"/>
          <p:cNvSpPr>
            <a:spLocks noGrp="1"/>
          </p:cNvSpPr>
          <p:nvPr>
            <p:ph type="title"/>
          </p:nvPr>
        </p:nvSpPr>
        <p:spPr>
          <a:ln/>
        </p:spPr>
        <p:txBody>
          <a:bodyPr vert="horz" wrap="square" lIns="0" tIns="45720" rIns="0" bIns="0" anchor="b" anchorCtr="0"/>
          <a:p>
            <a:endParaRPr dirty="0"/>
          </a:p>
        </p:txBody>
      </p:sp>
      <p:sp>
        <p:nvSpPr>
          <p:cNvPr id="51203" name="Content Placeholder 2"/>
          <p:cNvSpPr>
            <a:spLocks noGrp="1"/>
          </p:cNvSpPr>
          <p:nvPr>
            <p:ph idx="1"/>
          </p:nvPr>
        </p:nvSpPr>
        <p:spPr>
          <a:ln/>
        </p:spPr>
        <p:txBody>
          <a:bodyPr vert="horz" wrap="square" lIns="91440" tIns="45720" rIns="91440" bIns="45720" anchor="t" anchorCtr="0"/>
          <a:p>
            <a:endParaRPr dirty="0"/>
          </a:p>
        </p:txBody>
      </p:sp>
      <p:pic>
        <p:nvPicPr>
          <p:cNvPr id="51204" name="Picture 2" descr="https://fchat.s3.ap-south-1.amazonaws.com/default/deWI9evKvb.1615793451536.jpg"/>
          <p:cNvPicPr>
            <a:picLocks noChangeAspect="1"/>
          </p:cNvPicPr>
          <p:nvPr/>
        </p:nvPicPr>
        <p:blipFill>
          <a:blip r:embed="rId1"/>
          <a:srcRect r="2985"/>
          <a:stretch>
            <a:fillRect/>
          </a:stretch>
        </p:blipFill>
        <p:spPr>
          <a:xfrm>
            <a:off x="2057400" y="838200"/>
            <a:ext cx="4953000" cy="581660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itle 1"/>
          <p:cNvSpPr>
            <a:spLocks noGrp="1"/>
          </p:cNvSpPr>
          <p:nvPr>
            <p:ph type="title"/>
          </p:nvPr>
        </p:nvSpPr>
        <p:spPr>
          <a:ln/>
        </p:spPr>
        <p:txBody>
          <a:bodyPr vert="horz" wrap="square" lIns="0" tIns="45720" rIns="0" bIns="0" anchor="b" anchorCtr="0"/>
          <a:p>
            <a:endParaRPr dirty="0"/>
          </a:p>
        </p:txBody>
      </p:sp>
      <p:sp>
        <p:nvSpPr>
          <p:cNvPr id="52227" name="Content Placeholder 2"/>
          <p:cNvSpPr>
            <a:spLocks noGrp="1"/>
          </p:cNvSpPr>
          <p:nvPr>
            <p:ph idx="1"/>
          </p:nvPr>
        </p:nvSpPr>
        <p:spPr>
          <a:ln/>
        </p:spPr>
        <p:txBody>
          <a:bodyPr vert="horz" wrap="square" lIns="91440" tIns="45720" rIns="91440" bIns="45720" anchor="t" anchorCtr="0"/>
          <a:p>
            <a:endParaRPr dirty="0"/>
          </a:p>
        </p:txBody>
      </p:sp>
      <p:pic>
        <p:nvPicPr>
          <p:cNvPr id="52228" name="Picture 2" descr="https://fchat.s3.ap-south-1.amazonaws.com/default/5L6a9d4LnE.1615793440332.jpg"/>
          <p:cNvPicPr>
            <a:picLocks noChangeAspect="1"/>
          </p:cNvPicPr>
          <p:nvPr/>
        </p:nvPicPr>
        <p:blipFill>
          <a:blip r:embed="rId1"/>
          <a:srcRect l="11765" r="4411"/>
          <a:stretch>
            <a:fillRect/>
          </a:stretch>
        </p:blipFill>
        <p:spPr>
          <a:xfrm>
            <a:off x="2590800" y="838200"/>
            <a:ext cx="4343400" cy="5791200"/>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itle 1"/>
          <p:cNvSpPr>
            <a:spLocks noGrp="1"/>
          </p:cNvSpPr>
          <p:nvPr>
            <p:ph type="title"/>
          </p:nvPr>
        </p:nvSpPr>
        <p:spPr>
          <a:ln/>
        </p:spPr>
        <p:txBody>
          <a:bodyPr vert="horz" wrap="square" lIns="0" tIns="45720" rIns="0" bIns="0" anchor="b" anchorCtr="0"/>
          <a:p>
            <a:endParaRPr dirty="0"/>
          </a:p>
        </p:txBody>
      </p:sp>
      <p:pic>
        <p:nvPicPr>
          <p:cNvPr id="53251" name="Picture 2" descr="https://fchat.s3.ap-south-1.amazonaws.com/default/ZmD50ondOC.1615793433795.jpg"/>
          <p:cNvPicPr>
            <a:picLocks noGrp="1" noChangeAspect="1"/>
          </p:cNvPicPr>
          <p:nvPr>
            <p:ph idx="1"/>
          </p:nvPr>
        </p:nvPicPr>
        <p:blipFill>
          <a:blip r:embed="rId1"/>
          <a:srcRect/>
          <a:stretch>
            <a:fillRect/>
          </a:stretch>
        </p:blipFill>
        <p:spPr>
          <a:xfrm>
            <a:off x="2057400" y="838200"/>
            <a:ext cx="4419600" cy="5892800"/>
          </a:xfr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ln/>
        </p:spPr>
        <p:txBody>
          <a:bodyPr vert="horz" wrap="square" lIns="0" tIns="45720" rIns="0" bIns="0" anchor="b" anchorCtr="0"/>
          <a:p>
            <a:pPr eaLnBrk="1" hangingPunct="1"/>
            <a:r>
              <a:rPr dirty="0"/>
              <a:t>Deadlock Detection</a:t>
            </a:r>
            <a:endParaRPr dirty="0"/>
          </a:p>
        </p:txBody>
      </p:sp>
      <p:sp>
        <p:nvSpPr>
          <p:cNvPr id="54275" name="Rectangle 3"/>
          <p:cNvSpPr>
            <a:spLocks noGrp="1"/>
          </p:cNvSpPr>
          <p:nvPr>
            <p:ph idx="1"/>
          </p:nvPr>
        </p:nvSpPr>
        <p:spPr>
          <a:ln/>
        </p:spPr>
        <p:txBody>
          <a:bodyPr vert="horz" wrap="square" lIns="91440" tIns="45720" rIns="91440" bIns="45720" anchor="t" anchorCtr="0"/>
          <a:p>
            <a:pPr eaLnBrk="1" hangingPunct="1"/>
            <a:r>
              <a:rPr dirty="0"/>
              <a:t>Allow system to enter deadlock state </a:t>
            </a:r>
            <a:endParaRPr dirty="0"/>
          </a:p>
          <a:p>
            <a:pPr eaLnBrk="1" hangingPunct="1"/>
            <a:r>
              <a:rPr dirty="0"/>
              <a:t>Detection algorithm</a:t>
            </a:r>
            <a:endParaRPr dirty="0"/>
          </a:p>
          <a:p>
            <a:pPr eaLnBrk="1" hangingPunct="1"/>
            <a:r>
              <a:rPr dirty="0"/>
              <a:t>Recovery scheme</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noChangeArrowheads="1"/>
          </p:cNvSpPr>
          <p:nvPr>
            <p:ph type="title"/>
          </p:nvPr>
        </p:nvSpPr>
        <p:spPr bwMode="auto">
          <a:xfrm>
            <a:off x="455613" y="495300"/>
            <a:ext cx="8142287" cy="457200"/>
          </a:xfrm>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normAutofit/>
            <a:scene3d>
              <a:camera prst="orthographicFront"/>
              <a:lightRig rig="freezing" dir="t">
                <a:rot lat="0" lon="0" rev="5640000"/>
              </a:lightRig>
            </a:scene3d>
            <a:sp3d prstMaterial="flat">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600" b="0" i="0" u="none" strike="noStrike" kern="1200" cap="none" spc="0" normalizeH="0" baseline="0" noProof="0">
                <a:ln>
                  <a:noFill/>
                </a:ln>
                <a:solidFill>
                  <a:schemeClr val="tx2"/>
                </a:solidFill>
                <a:effectLst/>
                <a:uLnTx/>
                <a:uFillTx/>
                <a:latin typeface="+mj-lt"/>
                <a:ea typeface="+mj-ea"/>
                <a:cs typeface="+mj-cs"/>
              </a:rPr>
              <a:t>Resource-Allocation Graph And Wait-for Graph</a:t>
            </a:r>
            <a:endParaRPr kumimoji="0" lang="en-US" sz="2600" b="0" i="0" u="none" strike="noStrike" kern="1200" cap="none" spc="0" normalizeH="0" baseline="0" noProof="0">
              <a:ln>
                <a:noFill/>
              </a:ln>
              <a:solidFill>
                <a:schemeClr val="tx2"/>
              </a:solidFill>
              <a:effectLst/>
              <a:uLnTx/>
              <a:uFillTx/>
              <a:latin typeface="+mj-lt"/>
              <a:ea typeface="+mj-ea"/>
              <a:cs typeface="+mj-cs"/>
            </a:endParaRPr>
          </a:p>
        </p:txBody>
      </p:sp>
      <p:sp>
        <p:nvSpPr>
          <p:cNvPr id="55299" name="Text Box 5"/>
          <p:cNvSpPr txBox="1"/>
          <p:nvPr/>
        </p:nvSpPr>
        <p:spPr>
          <a:xfrm>
            <a:off x="2128838" y="5324475"/>
            <a:ext cx="2312987" cy="304800"/>
          </a:xfrm>
          <a:prstGeom prst="rect">
            <a:avLst/>
          </a:prstGeom>
          <a:noFill/>
          <a:ln w="9525">
            <a:noFill/>
          </a:ln>
        </p:spPr>
        <p:txBody>
          <a:bodyPr wrap="none" anchor="ctr" anchorCtr="0">
            <a:spAutoFit/>
          </a:bodyPr>
          <a:p>
            <a:pPr eaLnBrk="1" hangingPunct="1">
              <a:spcBef>
                <a:spcPct val="50000"/>
              </a:spcBef>
            </a:pPr>
            <a:r>
              <a:rPr sz="1400" dirty="0">
                <a:latin typeface="Constantia" panose="02030602050306030303" pitchFamily="18" charset="0"/>
              </a:rPr>
              <a:t>Resource-Allocation Graph</a:t>
            </a:r>
            <a:endParaRPr sz="1400" dirty="0">
              <a:latin typeface="Constantia" panose="02030602050306030303" pitchFamily="18" charset="0"/>
            </a:endParaRPr>
          </a:p>
        </p:txBody>
      </p:sp>
      <p:sp>
        <p:nvSpPr>
          <p:cNvPr id="55300" name="Text Box 6"/>
          <p:cNvSpPr txBox="1"/>
          <p:nvPr/>
        </p:nvSpPr>
        <p:spPr>
          <a:xfrm>
            <a:off x="5602288" y="5324475"/>
            <a:ext cx="2478087" cy="304800"/>
          </a:xfrm>
          <a:prstGeom prst="rect">
            <a:avLst/>
          </a:prstGeom>
          <a:noFill/>
          <a:ln w="9525">
            <a:noFill/>
          </a:ln>
        </p:spPr>
        <p:txBody>
          <a:bodyPr wrap="none" anchor="ctr" anchorCtr="0">
            <a:spAutoFit/>
          </a:bodyPr>
          <a:p>
            <a:pPr eaLnBrk="1" hangingPunct="1">
              <a:spcBef>
                <a:spcPct val="50000"/>
              </a:spcBef>
            </a:pPr>
            <a:r>
              <a:rPr sz="1400" dirty="0">
                <a:latin typeface="Constantia" panose="02030602050306030303" pitchFamily="18" charset="0"/>
              </a:rPr>
              <a:t>Corresponding wait-for graph</a:t>
            </a:r>
            <a:endParaRPr sz="1400" dirty="0">
              <a:latin typeface="Constantia" panose="02030602050306030303" pitchFamily="18" charset="0"/>
            </a:endParaRPr>
          </a:p>
        </p:txBody>
      </p:sp>
      <p:pic>
        <p:nvPicPr>
          <p:cNvPr id="55301" name="Picture 7"/>
          <p:cNvPicPr>
            <a:picLocks noChangeAspect="1"/>
          </p:cNvPicPr>
          <p:nvPr/>
        </p:nvPicPr>
        <p:blipFill>
          <a:blip r:embed="rId1"/>
          <a:srcRect l="592" t="9808" r="458" b="9842"/>
          <a:stretch>
            <a:fillRect/>
          </a:stretch>
        </p:blipFill>
        <p:spPr>
          <a:xfrm>
            <a:off x="1903413" y="1427163"/>
            <a:ext cx="5826125" cy="378460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noChangeArrowheads="1"/>
          </p:cNvSpPr>
          <p:nvPr>
            <p:ph type="title"/>
          </p:nvPr>
        </p:nvSpPr>
        <p:spPr>
          <a:xfrm>
            <a:off x="457200" y="704850"/>
            <a:ext cx="8229600" cy="74295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a:ln>
                  <a:noFill/>
                </a:ln>
                <a:solidFill>
                  <a:schemeClr val="tx2"/>
                </a:solidFill>
                <a:effectLst/>
                <a:uLnTx/>
                <a:uFillTx/>
                <a:latin typeface="+mj-lt"/>
                <a:ea typeface="+mj-ea"/>
                <a:cs typeface="+mj-cs"/>
              </a:rPr>
              <a:t>Detection Algorithm</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66563" name="Rectangle 3"/>
          <p:cNvSpPr>
            <a:spLocks noGrp="1" noChangeArrowheads="1"/>
          </p:cNvSpPr>
          <p:nvPr>
            <p:ph idx="1"/>
          </p:nvPr>
        </p:nvSpPr>
        <p:spPr>
          <a:xfrm>
            <a:off x="457200" y="1371600"/>
            <a:ext cx="8229600" cy="4953000"/>
          </a:xfrm>
        </p:spPr>
        <p:txBody>
          <a:bodyPr vert="horz" wrap="square" lIns="91440" tIns="45720" rIns="91440" bIns="45720" numCol="1" anchor="t" anchorCtr="0" compatLnSpc="1">
            <a:normAutofit fontScale="925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rPr>
              <a:t>1.	Let </a:t>
            </a:r>
            <a:r>
              <a:rPr kumimoji="0" lang="en-US" sz="2200" b="0" i="1" u="none" strike="noStrike" kern="1200" cap="none" spc="0" normalizeH="0" baseline="0" noProof="0" dirty="0">
                <a:ln>
                  <a:noFill/>
                </a:ln>
                <a:solidFill>
                  <a:schemeClr val="tx1"/>
                </a:solidFill>
                <a:effectLst/>
                <a:uLnTx/>
                <a:uFillTx/>
                <a:latin typeface="+mn-lt"/>
                <a:ea typeface="+mn-ea"/>
                <a:cs typeface="+mn-cs"/>
              </a:rPr>
              <a:t>Work</a:t>
            </a:r>
            <a:r>
              <a:rPr kumimoji="0" lang="en-US" sz="2200" b="0" i="0" u="none" strike="noStrike" kern="1200" cap="none" spc="0" normalizeH="0" baseline="0" noProof="0" dirty="0">
                <a:ln>
                  <a:noFill/>
                </a:ln>
                <a:solidFill>
                  <a:schemeClr val="tx1"/>
                </a:solidFill>
                <a:effectLst/>
                <a:uLnTx/>
                <a:uFillTx/>
                <a:latin typeface="+mn-lt"/>
                <a:ea typeface="+mn-ea"/>
                <a:cs typeface="+mn-cs"/>
              </a:rPr>
              <a:t> and </a:t>
            </a:r>
            <a:r>
              <a:rPr kumimoji="0" lang="en-US" sz="2200" b="0" i="1" u="none" strike="noStrike" kern="1200" cap="none" spc="0" normalizeH="0" baseline="0" noProof="0" dirty="0">
                <a:ln>
                  <a:noFill/>
                </a:ln>
                <a:solidFill>
                  <a:schemeClr val="tx1"/>
                </a:solidFill>
                <a:effectLst/>
                <a:uLnTx/>
                <a:uFillTx/>
                <a:latin typeface="+mn-lt"/>
                <a:ea typeface="+mn-ea"/>
                <a:cs typeface="+mn-cs"/>
              </a:rPr>
              <a:t>Finish</a:t>
            </a:r>
            <a:r>
              <a:rPr kumimoji="0" lang="en-US" sz="2200" b="0" i="0" u="none" strike="noStrike" kern="1200" cap="none" spc="0" normalizeH="0" baseline="0" noProof="0" dirty="0">
                <a:ln>
                  <a:noFill/>
                </a:ln>
                <a:solidFill>
                  <a:schemeClr val="tx1"/>
                </a:solidFill>
                <a:effectLst/>
                <a:uLnTx/>
                <a:uFillTx/>
                <a:latin typeface="+mn-lt"/>
                <a:ea typeface="+mn-ea"/>
                <a:cs typeface="+mn-cs"/>
              </a:rPr>
              <a:t> be vectors of length </a:t>
            </a:r>
            <a:r>
              <a:rPr kumimoji="0" lang="en-US" sz="2200" b="0" i="1" u="none" strike="noStrike" kern="1200" cap="none" spc="0" normalizeH="0" baseline="0" noProof="0" dirty="0">
                <a:ln>
                  <a:noFill/>
                </a:ln>
                <a:solidFill>
                  <a:schemeClr val="tx1"/>
                </a:solidFill>
                <a:effectLst/>
                <a:uLnTx/>
                <a:uFillTx/>
                <a:latin typeface="+mn-lt"/>
                <a:ea typeface="+mn-ea"/>
                <a:cs typeface="+mn-cs"/>
              </a:rPr>
              <a:t>m</a:t>
            </a:r>
            <a:r>
              <a:rPr kumimoji="0" lang="en-US" sz="2200" b="0" i="0" u="none" strike="noStrike" kern="1200" cap="none" spc="0" normalizeH="0" baseline="0" noProof="0" dirty="0">
                <a:ln>
                  <a:noFill/>
                </a:ln>
                <a:solidFill>
                  <a:schemeClr val="tx1"/>
                </a:solidFill>
                <a:effectLst/>
                <a:uLnTx/>
                <a:uFillTx/>
                <a:latin typeface="+mn-lt"/>
                <a:ea typeface="+mn-ea"/>
                <a:cs typeface="+mn-cs"/>
              </a:rPr>
              <a:t> and </a:t>
            </a:r>
            <a:r>
              <a:rPr kumimoji="0" lang="en-US" sz="2200" b="0" i="1" u="none" strike="noStrike" kern="1200" cap="none" spc="0" normalizeH="0" baseline="0" noProof="0" dirty="0">
                <a:ln>
                  <a:noFill/>
                </a:ln>
                <a:solidFill>
                  <a:schemeClr val="tx1"/>
                </a:solidFill>
                <a:effectLst/>
                <a:uLnTx/>
                <a:uFillTx/>
                <a:latin typeface="+mn-lt"/>
                <a:ea typeface="+mn-ea"/>
                <a:cs typeface="+mn-cs"/>
              </a:rPr>
              <a:t>n</a:t>
            </a:r>
            <a:r>
              <a:rPr kumimoji="0" lang="en-US" sz="2200" b="0" i="0" u="none" strike="noStrike" kern="1200" cap="none" spc="0" normalizeH="0" baseline="0" noProof="0" dirty="0">
                <a:ln>
                  <a:noFill/>
                </a:ln>
                <a:solidFill>
                  <a:schemeClr val="tx1"/>
                </a:solidFill>
                <a:effectLst/>
                <a:uLnTx/>
                <a:uFillTx/>
                <a:latin typeface="+mn-lt"/>
                <a:ea typeface="+mn-ea"/>
                <a:cs typeface="+mn-cs"/>
              </a:rPr>
              <a:t>, respectively Initialize:</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a:p>
            <a:pPr marL="850900" marR="0" lvl="1" indent="-393700" algn="l" defTabSz="914400" rtl="0" eaLnBrk="1" fontAlgn="auto" latinLnBrk="0" hangingPunct="1">
              <a:lnSpc>
                <a:spcPct val="100000"/>
              </a:lnSpc>
              <a:spcBef>
                <a:spcPct val="20000"/>
              </a:spcBef>
              <a:spcAft>
                <a:spcPts val="0"/>
              </a:spcAft>
              <a:buClr>
                <a:schemeClr val="accent1"/>
              </a:buClr>
              <a:buSzPct val="8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rPr>
              <a:t>(a) </a:t>
            </a:r>
            <a:r>
              <a:rPr kumimoji="0" lang="en-US" sz="2200" b="0" i="1" u="none" strike="noStrike" kern="1200" cap="none" spc="0" normalizeH="0" baseline="0" noProof="0" dirty="0">
                <a:ln>
                  <a:noFill/>
                </a:ln>
                <a:solidFill>
                  <a:schemeClr val="tx1"/>
                </a:solidFill>
                <a:effectLst/>
                <a:uLnTx/>
                <a:uFillTx/>
                <a:latin typeface="+mn-lt"/>
                <a:ea typeface="+mn-ea"/>
                <a:cs typeface="+mn-cs"/>
              </a:rPr>
              <a:t>Work</a:t>
            </a:r>
            <a:r>
              <a:rPr kumimoji="0" lang="en-US" sz="2200" b="0" i="0" u="none" strike="noStrike" kern="1200" cap="none" spc="0" normalizeH="0" baseline="0" noProof="0" dirty="0">
                <a:ln>
                  <a:noFill/>
                </a:ln>
                <a:solidFill>
                  <a:schemeClr val="tx1"/>
                </a:solidFill>
                <a:effectLst/>
                <a:uLnTx/>
                <a:uFillTx/>
                <a:latin typeface="+mn-lt"/>
                <a:ea typeface="+mn-ea"/>
                <a:cs typeface="+mn-cs"/>
              </a:rPr>
              <a:t> :- </a:t>
            </a:r>
            <a:r>
              <a:rPr kumimoji="0" lang="en-US" sz="2200" b="0" i="1" u="none" strike="noStrike" kern="1200" cap="none" spc="0" normalizeH="0" baseline="0" noProof="0" dirty="0">
                <a:ln>
                  <a:noFill/>
                </a:ln>
                <a:solidFill>
                  <a:schemeClr val="tx1"/>
                </a:solidFill>
                <a:effectLst/>
                <a:uLnTx/>
                <a:uFillTx/>
                <a:latin typeface="+mn-lt"/>
                <a:ea typeface="+mn-ea"/>
                <a:cs typeface="+mn-cs"/>
              </a:rPr>
              <a:t>Available</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a:p>
            <a:pPr marL="850900" marR="0" lvl="1" indent="-393700" algn="l" defTabSz="914400" rtl="0" eaLnBrk="1" fontAlgn="auto" latinLnBrk="0" hangingPunct="1">
              <a:lnSpc>
                <a:spcPct val="100000"/>
              </a:lnSpc>
              <a:spcBef>
                <a:spcPct val="20000"/>
              </a:spcBef>
              <a:spcAft>
                <a:spcPts val="0"/>
              </a:spcAft>
              <a:buClr>
                <a:schemeClr val="accent1"/>
              </a:buClr>
              <a:buSzPct val="8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rPr>
              <a:t>(b)	For </a:t>
            </a:r>
            <a:r>
              <a:rPr kumimoji="0" lang="en-US" sz="2200" b="0" i="1" u="none" strike="noStrike" kern="1200" cap="none" spc="0" normalizeH="0" baseline="0" noProof="0" dirty="0" err="1">
                <a:ln>
                  <a:noFill/>
                </a:ln>
                <a:solidFill>
                  <a:schemeClr val="tx1"/>
                </a:solidFill>
                <a:effectLst/>
                <a:uLnTx/>
                <a:uFillTx/>
                <a:latin typeface="+mn-lt"/>
                <a:ea typeface="+mn-ea"/>
                <a:cs typeface="+mn-cs"/>
              </a:rPr>
              <a:t>i</a:t>
            </a:r>
            <a:r>
              <a:rPr kumimoji="0" lang="en-US" sz="2200" b="0" i="0" u="none" strike="noStrike" kern="1200" cap="none" spc="0" normalizeH="0" baseline="0" noProof="0" dirty="0">
                <a:ln>
                  <a:noFill/>
                </a:ln>
                <a:solidFill>
                  <a:schemeClr val="tx1"/>
                </a:solidFill>
                <a:effectLst/>
                <a:uLnTx/>
                <a:uFillTx/>
                <a:latin typeface="+mn-lt"/>
                <a:ea typeface="+mn-ea"/>
                <a:cs typeface="+mn-cs"/>
              </a:rPr>
              <a:t> = 1,2, …,</a:t>
            </a:r>
            <a:r>
              <a:rPr kumimoji="0" lang="en-US" sz="2200" b="0" i="1" u="none" strike="noStrike" kern="1200" cap="none" spc="0" normalizeH="0" baseline="0" noProof="0" dirty="0">
                <a:ln>
                  <a:noFill/>
                </a:ln>
                <a:solidFill>
                  <a:schemeClr val="tx1"/>
                </a:solidFill>
                <a:effectLst/>
                <a:uLnTx/>
                <a:uFillTx/>
                <a:latin typeface="+mn-lt"/>
                <a:ea typeface="+mn-ea"/>
                <a:cs typeface="+mn-cs"/>
              </a:rPr>
              <a:t> n</a:t>
            </a:r>
            <a:r>
              <a:rPr kumimoji="0" lang="en-US" sz="2200" b="0" i="0" u="none" strike="noStrike" kern="1200" cap="none" spc="0" normalizeH="0" baseline="0" noProof="0" dirty="0">
                <a:ln>
                  <a:noFill/>
                </a:ln>
                <a:solidFill>
                  <a:schemeClr val="tx1"/>
                </a:solidFill>
                <a:effectLst/>
                <a:uLnTx/>
                <a:uFillTx/>
                <a:latin typeface="+mn-lt"/>
                <a:ea typeface="+mn-ea"/>
                <a:cs typeface="+mn-cs"/>
              </a:rPr>
              <a:t>, if </a:t>
            </a:r>
            <a:r>
              <a:rPr kumimoji="0" lang="en-US" sz="2200" b="0" i="1" u="none" strike="noStrike" kern="1200" cap="none" spc="0" normalizeH="0" baseline="0" noProof="0" dirty="0" err="1">
                <a:ln>
                  <a:noFill/>
                </a:ln>
                <a:solidFill>
                  <a:schemeClr val="tx1"/>
                </a:solidFill>
                <a:effectLst/>
                <a:uLnTx/>
                <a:uFillTx/>
                <a:latin typeface="+mn-lt"/>
                <a:ea typeface="+mn-ea"/>
                <a:cs typeface="+mn-cs"/>
              </a:rPr>
              <a:t>Allocation</a:t>
            </a:r>
            <a:r>
              <a:rPr kumimoji="0" lang="en-US" sz="22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200" b="0" i="0" u="none" strike="noStrike" kern="1200" cap="none" spc="0" normalizeH="0" baseline="0" noProof="0" dirty="0">
                <a:ln>
                  <a:noFill/>
                </a:ln>
                <a:solidFill>
                  <a:schemeClr val="tx1"/>
                </a:solidFill>
                <a:effectLst/>
                <a:uLnTx/>
                <a:uFillTx/>
                <a:latin typeface="+mn-lt"/>
                <a:ea typeface="+mn-ea"/>
                <a:cs typeface="+mn-cs"/>
              </a:rPr>
              <a:t> </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 0, then </a:t>
            </a:r>
            <a:b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br>
            <a:r>
              <a:rPr kumimoji="0" lang="en-US" sz="2200" b="0" i="1"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Finish</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a:t>
            </a:r>
            <a:r>
              <a:rPr kumimoji="0" lang="en-US" sz="2200" b="0" i="0" u="none" strike="noStrike" kern="1200" cap="none" spc="0" normalizeH="0" baseline="0" noProof="0" dirty="0" err="1">
                <a:ln>
                  <a:noFill/>
                </a:ln>
                <a:solidFill>
                  <a:schemeClr val="tx1"/>
                </a:solidFill>
                <a:effectLst/>
                <a:uLnTx/>
                <a:uFillTx/>
                <a:latin typeface="+mn-lt"/>
                <a:ea typeface="+mn-ea"/>
                <a:cs typeface="+mn-cs"/>
                <a:sym typeface="Symbol" panose="05050102010706020507" pitchFamily="18" charset="2"/>
              </a:rPr>
              <a:t>i</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 := </a:t>
            </a:r>
            <a:r>
              <a:rPr kumimoji="0" lang="en-US" sz="2200" b="0" i="0" u="none" strike="noStrike" kern="1200" cap="none" spc="0" normalizeH="0" baseline="0" noProof="0" dirty="0" err="1">
                <a:ln>
                  <a:noFill/>
                </a:ln>
                <a:solidFill>
                  <a:schemeClr val="tx1"/>
                </a:solidFill>
                <a:effectLst/>
                <a:uLnTx/>
                <a:uFillTx/>
                <a:latin typeface="+mn-lt"/>
                <a:ea typeface="+mn-ea"/>
                <a:cs typeface="+mn-cs"/>
                <a:sym typeface="Symbol" panose="05050102010706020507" pitchFamily="18" charset="2"/>
              </a:rPr>
              <a:t>false;otherwise</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 </a:t>
            </a:r>
            <a:r>
              <a:rPr kumimoji="0" lang="en-US" sz="2200" b="0" i="1"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Finish</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a:t>
            </a:r>
            <a:r>
              <a:rPr kumimoji="0" lang="en-US" sz="2200" b="0" i="0" u="none" strike="noStrike" kern="1200" cap="none" spc="0" normalizeH="0" baseline="0" noProof="0" dirty="0" err="1">
                <a:ln>
                  <a:noFill/>
                </a:ln>
                <a:solidFill>
                  <a:schemeClr val="tx1"/>
                </a:solidFill>
                <a:effectLst/>
                <a:uLnTx/>
                <a:uFillTx/>
                <a:latin typeface="+mn-lt"/>
                <a:ea typeface="+mn-ea"/>
                <a:cs typeface="+mn-cs"/>
                <a:sym typeface="Symbol" panose="05050102010706020507" pitchFamily="18" charset="2"/>
              </a:rPr>
              <a:t>i</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 := </a:t>
            </a:r>
            <a:r>
              <a:rPr kumimoji="0" lang="en-US" sz="2200" b="0" i="1"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true</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a:t>
            </a:r>
            <a:endPar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rPr>
              <a:t>2.	Find an index </a:t>
            </a:r>
            <a:r>
              <a:rPr kumimoji="0" lang="en-US" sz="2200" b="0" i="1" u="none" strike="noStrike" kern="1200" cap="none" spc="0" normalizeH="0" baseline="0" noProof="0" dirty="0" err="1">
                <a:ln>
                  <a:noFill/>
                </a:ln>
                <a:solidFill>
                  <a:schemeClr val="tx1"/>
                </a:solidFill>
                <a:effectLst/>
                <a:uLnTx/>
                <a:uFillTx/>
                <a:latin typeface="+mn-lt"/>
                <a:ea typeface="+mn-ea"/>
                <a:cs typeface="+mn-cs"/>
              </a:rPr>
              <a:t>i</a:t>
            </a:r>
            <a:r>
              <a:rPr kumimoji="0" lang="en-US" sz="2200" b="0" i="1" u="none" strike="noStrike" kern="1200" cap="none" spc="0" normalizeH="0" baseline="0" noProof="0" dirty="0">
                <a:ln>
                  <a:noFill/>
                </a:ln>
                <a:solidFill>
                  <a:schemeClr val="tx1"/>
                </a:solidFill>
                <a:effectLst/>
                <a:uLnTx/>
                <a:uFillTx/>
                <a:latin typeface="+mn-lt"/>
                <a:ea typeface="+mn-ea"/>
                <a:cs typeface="+mn-cs"/>
              </a:rPr>
              <a:t> </a:t>
            </a:r>
            <a:r>
              <a:rPr kumimoji="0" lang="en-US" sz="2200" b="0" i="0" u="none" strike="noStrike" kern="1200" cap="none" spc="0" normalizeH="0" baseline="0" noProof="0" dirty="0">
                <a:ln>
                  <a:noFill/>
                </a:ln>
                <a:solidFill>
                  <a:schemeClr val="tx1"/>
                </a:solidFill>
                <a:effectLst/>
                <a:uLnTx/>
                <a:uFillTx/>
                <a:latin typeface="+mn-lt"/>
                <a:ea typeface="+mn-ea"/>
                <a:cs typeface="+mn-cs"/>
              </a:rPr>
              <a:t>such that both:</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a:p>
            <a:pPr marL="850900" marR="0" lvl="1" indent="-393700" algn="l" defTabSz="914400" rtl="0" eaLnBrk="1" fontAlgn="auto" latinLnBrk="0" hangingPunct="1">
              <a:lnSpc>
                <a:spcPct val="100000"/>
              </a:lnSpc>
              <a:spcBef>
                <a:spcPct val="20000"/>
              </a:spcBef>
              <a:spcAft>
                <a:spcPts val="0"/>
              </a:spcAft>
              <a:buClr>
                <a:schemeClr val="accent1"/>
              </a:buClr>
              <a:buSzPct val="8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rPr>
              <a:t>(a)	</a:t>
            </a:r>
            <a:r>
              <a:rPr kumimoji="0" lang="en-US" sz="2200" b="0" i="1" u="none" strike="noStrike" kern="1200" cap="none" spc="0" normalizeH="0" baseline="0" noProof="0" dirty="0">
                <a:ln>
                  <a:noFill/>
                </a:ln>
                <a:solidFill>
                  <a:schemeClr val="tx1"/>
                </a:solidFill>
                <a:effectLst/>
                <a:uLnTx/>
                <a:uFillTx/>
                <a:latin typeface="+mn-lt"/>
                <a:ea typeface="+mn-ea"/>
                <a:cs typeface="+mn-cs"/>
              </a:rPr>
              <a:t>Finish</a:t>
            </a:r>
            <a:r>
              <a:rPr kumimoji="0" lang="en-US" sz="2200" b="0" i="0" u="none" strike="noStrike" kern="1200" cap="none" spc="0" normalizeH="0" baseline="0" noProof="0" dirty="0">
                <a:ln>
                  <a:noFill/>
                </a:ln>
                <a:solidFill>
                  <a:schemeClr val="tx1"/>
                </a:solidFill>
                <a:effectLst/>
                <a:uLnTx/>
                <a:uFillTx/>
                <a:latin typeface="+mn-lt"/>
                <a:ea typeface="+mn-ea"/>
                <a:cs typeface="+mn-cs"/>
              </a:rPr>
              <a:t>[</a:t>
            </a:r>
            <a:r>
              <a:rPr kumimoji="0" lang="en-US" sz="2200" b="0" i="1" u="none" strike="noStrike" kern="1200" cap="none" spc="0" normalizeH="0" baseline="0" noProof="0" dirty="0" err="1">
                <a:ln>
                  <a:noFill/>
                </a:ln>
                <a:solidFill>
                  <a:schemeClr val="tx1"/>
                </a:solidFill>
                <a:effectLst/>
                <a:uLnTx/>
                <a:uFillTx/>
                <a:latin typeface="+mn-lt"/>
                <a:ea typeface="+mn-ea"/>
                <a:cs typeface="+mn-cs"/>
              </a:rPr>
              <a:t>i</a:t>
            </a:r>
            <a:r>
              <a:rPr kumimoji="0" lang="en-US" sz="2200" b="0" i="0" u="none" strike="noStrike" kern="1200" cap="none" spc="0" normalizeH="0" baseline="0" noProof="0" dirty="0">
                <a:ln>
                  <a:noFill/>
                </a:ln>
                <a:solidFill>
                  <a:schemeClr val="tx1"/>
                </a:solidFill>
                <a:effectLst/>
                <a:uLnTx/>
                <a:uFillTx/>
                <a:latin typeface="+mn-lt"/>
                <a:ea typeface="+mn-ea"/>
                <a:cs typeface="+mn-cs"/>
              </a:rPr>
              <a:t>] = </a:t>
            </a:r>
            <a:r>
              <a:rPr kumimoji="0" lang="en-US" sz="2200" b="0" i="1" u="none" strike="noStrike" kern="1200" cap="none" spc="0" normalizeH="0" baseline="0" noProof="0" dirty="0">
                <a:ln>
                  <a:noFill/>
                </a:ln>
                <a:solidFill>
                  <a:schemeClr val="tx1"/>
                </a:solidFill>
                <a:effectLst/>
                <a:uLnTx/>
                <a:uFillTx/>
                <a:latin typeface="+mn-lt"/>
                <a:ea typeface="+mn-ea"/>
                <a:cs typeface="+mn-cs"/>
              </a:rPr>
              <a:t>false</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a:p>
            <a:pPr marL="850900" marR="0" lvl="1" indent="-393700" algn="l" defTabSz="914400" rtl="0" eaLnBrk="1" fontAlgn="auto" latinLnBrk="0" hangingPunct="1">
              <a:lnSpc>
                <a:spcPct val="100000"/>
              </a:lnSpc>
              <a:spcBef>
                <a:spcPct val="20000"/>
              </a:spcBef>
              <a:spcAft>
                <a:spcPts val="0"/>
              </a:spcAft>
              <a:buClr>
                <a:schemeClr val="accent1"/>
              </a:buClr>
              <a:buSzPct val="8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rPr>
              <a:t>(b)	</a:t>
            </a:r>
            <a:r>
              <a:rPr kumimoji="0" lang="en-US" sz="2200" b="0" i="1" u="none" strike="noStrike" kern="1200" cap="none" spc="0" normalizeH="0" baseline="0" noProof="0" dirty="0" err="1">
                <a:ln>
                  <a:noFill/>
                </a:ln>
                <a:solidFill>
                  <a:schemeClr val="tx1"/>
                </a:solidFill>
                <a:effectLst/>
                <a:uLnTx/>
                <a:uFillTx/>
                <a:latin typeface="+mn-lt"/>
                <a:ea typeface="+mn-ea"/>
                <a:cs typeface="+mn-cs"/>
              </a:rPr>
              <a:t>Request</a:t>
            </a:r>
            <a:r>
              <a:rPr kumimoji="0" lang="en-US" sz="22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200" b="0" i="0" u="none" strike="noStrike" kern="1200" cap="none" spc="0" normalizeH="0" baseline="0" noProof="0" dirty="0">
                <a:ln>
                  <a:noFill/>
                </a:ln>
                <a:solidFill>
                  <a:schemeClr val="tx1"/>
                </a:solidFill>
                <a:effectLst/>
                <a:uLnTx/>
                <a:uFillTx/>
                <a:latin typeface="+mn-lt"/>
                <a:ea typeface="+mn-ea"/>
                <a:cs typeface="+mn-cs"/>
              </a:rPr>
              <a:t> </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 </a:t>
            </a:r>
            <a:r>
              <a:rPr kumimoji="0" lang="en-US" sz="2200" b="0" i="1"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Work</a:t>
            </a:r>
            <a:endPar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endParaRPr>
          </a:p>
          <a:p>
            <a:pPr marL="850900" marR="0" lvl="1" indent="-393700" algn="l" defTabSz="914400" rtl="0" eaLnBrk="1" fontAlgn="auto" latinLnBrk="0" hangingPunct="1">
              <a:lnSpc>
                <a:spcPct val="100000"/>
              </a:lnSpc>
              <a:spcBef>
                <a:spcPct val="20000"/>
              </a:spcBef>
              <a:spcAft>
                <a:spcPts val="0"/>
              </a:spcAft>
              <a:buClr>
                <a:schemeClr val="accent1"/>
              </a:buClr>
              <a:buSzPct val="85000"/>
              <a:buFontTx/>
              <a:buNone/>
              <a:defRPr/>
            </a:pP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If no such </a:t>
            </a:r>
            <a:r>
              <a:rPr kumimoji="0" lang="en-US" sz="2200" b="0" i="1" u="none" strike="noStrike" kern="1200" cap="none" spc="0" normalizeH="0" baseline="0" noProof="0" dirty="0" err="1">
                <a:ln>
                  <a:noFill/>
                </a:ln>
                <a:solidFill>
                  <a:schemeClr val="tx1"/>
                </a:solidFill>
                <a:effectLst/>
                <a:uLnTx/>
                <a:uFillTx/>
                <a:latin typeface="+mn-lt"/>
                <a:ea typeface="+mn-ea"/>
                <a:cs typeface="+mn-cs"/>
                <a:sym typeface="Symbol" panose="05050102010706020507" pitchFamily="18" charset="2"/>
              </a:rPr>
              <a:t>i</a:t>
            </a:r>
            <a:r>
              <a:rPr kumimoji="0" lang="en-US" sz="2200" b="0" i="0" u="none" strike="noStrike" kern="1200" cap="none" spc="0" normalizeH="0" baseline="0" noProof="0" dirty="0">
                <a:ln>
                  <a:noFill/>
                </a:ln>
                <a:solidFill>
                  <a:schemeClr val="tx1"/>
                </a:solidFill>
                <a:effectLst/>
                <a:uLnTx/>
                <a:uFillTx/>
                <a:latin typeface="+mn-lt"/>
                <a:ea typeface="+mn-ea"/>
                <a:cs typeface="+mn-cs"/>
                <a:sym typeface="Symbol" panose="05050102010706020507" pitchFamily="18" charset="2"/>
              </a:rPr>
              <a:t> exists, go to step 4. </a:t>
            </a:r>
            <a:endPar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3.	</a:t>
            </a:r>
            <a:r>
              <a:rPr kumimoji="0" lang="en-US" sz="2200" b="0" i="1" u="none" strike="noStrike" kern="1200" cap="none" spc="0" normalizeH="0" baseline="0" noProof="0" dirty="0" smtClean="0">
                <a:ln>
                  <a:noFill/>
                </a:ln>
                <a:solidFill>
                  <a:schemeClr val="tx1"/>
                </a:solidFill>
                <a:effectLst/>
                <a:uLnTx/>
                <a:uFillTx/>
                <a:latin typeface="+mn-lt"/>
                <a:ea typeface="+mn-ea"/>
                <a:cs typeface="+mn-cs"/>
              </a:rPr>
              <a:t>Work</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200" b="0" i="1" u="none" strike="noStrike" kern="1200" cap="none" spc="0" normalizeH="0" baseline="0" noProof="0" dirty="0" smtClean="0">
                <a:ln>
                  <a:noFill/>
                </a:ln>
                <a:solidFill>
                  <a:schemeClr val="tx1"/>
                </a:solidFill>
                <a:effectLst/>
                <a:uLnTx/>
                <a:uFillTx/>
                <a:latin typeface="+mn-lt"/>
                <a:ea typeface="+mn-ea"/>
                <a:cs typeface="+mn-cs"/>
              </a:rPr>
              <a:t>Work</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200" b="0" i="1" u="none" strike="noStrike" kern="1200" cap="none" spc="0" normalizeH="0" baseline="0" noProof="0" dirty="0" err="1" smtClean="0">
                <a:ln>
                  <a:noFill/>
                </a:ln>
                <a:solidFill>
                  <a:schemeClr val="tx1"/>
                </a:solidFill>
                <a:effectLst/>
                <a:uLnTx/>
                <a:uFillTx/>
                <a:latin typeface="+mn-lt"/>
                <a:ea typeface="+mn-ea"/>
                <a:cs typeface="+mn-cs"/>
              </a:rPr>
              <a:t>Allocation</a:t>
            </a:r>
            <a:r>
              <a:rPr kumimoji="0" lang="en-US" sz="2200" b="0" i="1" u="none" strike="noStrike" kern="1200" cap="none" spc="0" normalizeH="0" baseline="-25000" noProof="0" dirty="0" err="1" smtClean="0">
                <a:ln>
                  <a:noFill/>
                </a:ln>
                <a:solidFill>
                  <a:schemeClr val="tx1"/>
                </a:solidFill>
                <a:effectLst/>
                <a:uLnTx/>
                <a:uFillTx/>
                <a:latin typeface="+mn-lt"/>
                <a:ea typeface="+mn-ea"/>
                <a:cs typeface="+mn-cs"/>
              </a:rPr>
              <a:t>i</a:t>
            </a:r>
            <a:br>
              <a:rPr kumimoji="0" lang="en-US" sz="2200" b="0" i="0" u="none" strike="noStrike" kern="1200" cap="none" spc="0" normalizeH="0" baseline="0" noProof="0" dirty="0" smtClean="0">
                <a:ln>
                  <a:noFill/>
                </a:ln>
                <a:solidFill>
                  <a:schemeClr val="tx1"/>
                </a:solidFill>
                <a:effectLst/>
                <a:uLnTx/>
                <a:uFillTx/>
                <a:latin typeface="+mn-lt"/>
                <a:ea typeface="+mn-ea"/>
                <a:cs typeface="+mn-cs"/>
              </a:rPr>
            </a:br>
            <a:r>
              <a:rPr kumimoji="0" lang="en-US" sz="2200" b="0" i="1" u="none" strike="noStrike" kern="1200" cap="none" spc="0" normalizeH="0" baseline="0" noProof="0" dirty="0" smtClean="0">
                <a:ln>
                  <a:noFill/>
                </a:ln>
                <a:solidFill>
                  <a:schemeClr val="tx1"/>
                </a:solidFill>
                <a:effectLst/>
                <a:uLnTx/>
                <a:uFillTx/>
                <a:latin typeface="+mn-lt"/>
                <a:ea typeface="+mn-ea"/>
                <a:cs typeface="+mn-cs"/>
              </a:rPr>
              <a:t>Finish</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2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 </a:t>
            </a:r>
            <a:r>
              <a:rPr kumimoji="0" lang="en-US" sz="2200" b="0" i="1" u="none" strike="noStrike" kern="1200" cap="none" spc="0" normalizeH="0" baseline="0" noProof="0" dirty="0" smtClean="0">
                <a:ln>
                  <a:noFill/>
                </a:ln>
                <a:solidFill>
                  <a:schemeClr val="tx1"/>
                </a:solidFill>
                <a:effectLst/>
                <a:uLnTx/>
                <a:uFillTx/>
                <a:latin typeface="+mn-lt"/>
                <a:ea typeface="+mn-ea"/>
                <a:cs typeface="+mn-cs"/>
              </a:rPr>
              <a:t>true</a:t>
            </a:r>
            <a:br>
              <a:rPr kumimoji="0" lang="en-US" sz="2200" b="0" i="0" u="none" strike="noStrike" kern="1200" cap="none" spc="0" normalizeH="0" baseline="0" noProof="0" dirty="0" smtClean="0">
                <a:ln>
                  <a:noFill/>
                </a:ln>
                <a:solidFill>
                  <a:schemeClr val="tx1"/>
                </a:solidFill>
                <a:effectLst/>
                <a:uLnTx/>
                <a:uFillTx/>
                <a:latin typeface="+mn-lt"/>
                <a:ea typeface="+mn-ea"/>
                <a:cs typeface="+mn-cs"/>
              </a:rPr>
            </a:br>
            <a:r>
              <a:rPr kumimoji="0" lang="en-US" sz="2200" b="0" i="0" u="none" strike="noStrike" kern="1200" cap="none" spc="0" normalizeH="0" baseline="0" noProof="0" dirty="0" smtClean="0">
                <a:ln>
                  <a:noFill/>
                </a:ln>
                <a:solidFill>
                  <a:schemeClr val="tx1"/>
                </a:solidFill>
                <a:effectLst/>
                <a:uLnTx/>
                <a:uFillTx/>
                <a:latin typeface="+mn-lt"/>
                <a:ea typeface="+mn-ea"/>
                <a:cs typeface="+mn-cs"/>
              </a:rPr>
              <a:t>go to step 2.</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defRPr/>
            </a:pPr>
            <a:r>
              <a:rPr kumimoji="0" lang="en-US" sz="2200" b="0" i="0" u="none" strike="noStrike" kern="1200" cap="none" spc="0" normalizeH="0" baseline="0" noProof="0" dirty="0" smtClean="0">
                <a:ln>
                  <a:noFill/>
                </a:ln>
                <a:solidFill>
                  <a:schemeClr val="tx1"/>
                </a:solidFill>
                <a:effectLst/>
                <a:uLnTx/>
                <a:uFillTx/>
                <a:latin typeface="+mn-lt"/>
                <a:ea typeface="+mn-ea"/>
                <a:cs typeface="+mn-cs"/>
              </a:rPr>
              <a:t>4.	If </a:t>
            </a:r>
            <a:r>
              <a:rPr kumimoji="0" lang="en-US" sz="2200" b="0" i="1" u="none" strike="noStrike" kern="1200" cap="none" spc="0" normalizeH="0" baseline="0" noProof="0" dirty="0" smtClean="0">
                <a:ln>
                  <a:noFill/>
                </a:ln>
                <a:solidFill>
                  <a:schemeClr val="tx1"/>
                </a:solidFill>
                <a:effectLst/>
                <a:uLnTx/>
                <a:uFillTx/>
                <a:latin typeface="+mn-lt"/>
                <a:ea typeface="+mn-ea"/>
                <a:cs typeface="+mn-cs"/>
              </a:rPr>
              <a:t>Finish</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2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 false, for some </a:t>
            </a:r>
            <a:r>
              <a:rPr kumimoji="0" lang="en-US" sz="22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 1 </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a:t>
            </a:r>
            <a:r>
              <a:rPr kumimoji="0" lang="en-US" sz="2200" b="0" i="1" u="none" strike="noStrike" kern="1200" cap="none" spc="0" normalizeH="0" baseline="0" noProof="0" dirty="0" err="1" smtClean="0">
                <a:ln>
                  <a:noFill/>
                </a:ln>
                <a:solidFill>
                  <a:schemeClr val="tx1"/>
                </a:solidFill>
                <a:effectLst/>
                <a:uLnTx/>
                <a:uFillTx/>
                <a:latin typeface="+mn-lt"/>
                <a:ea typeface="+mn-ea"/>
                <a:cs typeface="+mn-cs"/>
                <a:sym typeface="Symbol" panose="05050102010706020507" pitchFamily="18" charset="2"/>
              </a:rPr>
              <a:t>i</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  </a:t>
            </a:r>
            <a:r>
              <a:rPr kumimoji="0" lang="en-US" sz="2200" b="0" i="1"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n</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then the system is in deadlock state. Moreover, if </a:t>
            </a:r>
            <a:r>
              <a:rPr kumimoji="0" lang="en-US" sz="2200" b="0" i="1"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Finish</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a:t>
            </a:r>
            <a:r>
              <a:rPr kumimoji="0" lang="en-US" sz="2200" b="0" i="1" u="none" strike="noStrike" kern="1200" cap="none" spc="0" normalizeH="0" baseline="0" noProof="0" dirty="0" err="1" smtClean="0">
                <a:ln>
                  <a:noFill/>
                </a:ln>
                <a:solidFill>
                  <a:schemeClr val="tx1"/>
                </a:solidFill>
                <a:effectLst/>
                <a:uLnTx/>
                <a:uFillTx/>
                <a:latin typeface="+mn-lt"/>
                <a:ea typeface="+mn-ea"/>
                <a:cs typeface="+mn-cs"/>
                <a:sym typeface="Symbol" panose="05050102010706020507" pitchFamily="18" charset="2"/>
              </a:rPr>
              <a:t>i</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 </a:t>
            </a:r>
            <a:r>
              <a:rPr kumimoji="0" lang="en-US" sz="2200" b="0" i="1"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false</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then </a:t>
            </a:r>
            <a:r>
              <a:rPr kumimoji="0" lang="en-US" sz="2200" b="0" i="1"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P</a:t>
            </a:r>
            <a:r>
              <a:rPr kumimoji="0" lang="en-US" sz="2200" b="0" i="1" u="none" strike="noStrike" kern="1200" cap="none" spc="0" normalizeH="0" baseline="-25000" noProof="0" dirty="0" smtClean="0">
                <a:ln>
                  <a:noFill/>
                </a:ln>
                <a:solidFill>
                  <a:schemeClr val="tx1"/>
                </a:solidFill>
                <a:effectLst/>
                <a:uLnTx/>
                <a:uFillTx/>
                <a:latin typeface="+mn-lt"/>
                <a:ea typeface="+mn-ea"/>
                <a:cs typeface="+mn-cs"/>
                <a:sym typeface="Symbol" panose="05050102010706020507" pitchFamily="18" charset="2"/>
              </a:rPr>
              <a:t>i</a:t>
            </a:r>
            <a:r>
              <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is deadlocked.</a:t>
            </a:r>
            <a:endParaRPr kumimoji="0" lang="en-US" sz="22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endParaRPr>
          </a:p>
          <a:p>
            <a:pPr marL="850900" marR="0" lvl="1" indent="-393700" algn="l" defTabSz="914400" rtl="0" eaLnBrk="1" fontAlgn="auto" latinLnBrk="0" hangingPunct="1">
              <a:lnSpc>
                <a:spcPct val="100000"/>
              </a:lnSpc>
              <a:spcBef>
                <a:spcPct val="20000"/>
              </a:spcBef>
              <a:spcAft>
                <a:spcPts val="0"/>
              </a:spcAft>
              <a:buClr>
                <a:schemeClr val="accent1"/>
              </a:buClr>
              <a:buSzPct val="85000"/>
              <a:buFontTx/>
              <a:buNone/>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xfrm>
            <a:off x="457200" y="704850"/>
            <a:ext cx="8229600" cy="895350"/>
          </a:xfrm>
          <a:ln/>
        </p:spPr>
        <p:txBody>
          <a:bodyPr vert="horz" wrap="square" lIns="0" tIns="45720" rIns="0" bIns="0" anchor="b" anchorCtr="0"/>
          <a:p>
            <a:pPr eaLnBrk="1" hangingPunct="1"/>
            <a:r>
              <a:rPr dirty="0"/>
              <a:t>Example of Detection Algorithm</a:t>
            </a:r>
            <a:endParaRPr dirty="0"/>
          </a:p>
        </p:txBody>
      </p:sp>
      <p:sp>
        <p:nvSpPr>
          <p:cNvPr id="68611" name="Rectangle 3"/>
          <p:cNvSpPr>
            <a:spLocks noGrp="1" noChangeArrowheads="1"/>
          </p:cNvSpPr>
          <p:nvPr>
            <p:ph idx="1"/>
          </p:nvPr>
        </p:nvSpPr>
        <p:spPr>
          <a:xfrm>
            <a:off x="457200" y="1935163"/>
            <a:ext cx="8229600" cy="4389438"/>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Five processes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0</a:t>
            </a:r>
            <a:r>
              <a:rPr kumimoji="0" lang="en-US" sz="2600" b="0" i="0" u="none" strike="noStrike" kern="1200" cap="none" spc="0" normalizeH="0" baseline="0" noProof="0" dirty="0">
                <a:ln>
                  <a:noFill/>
                </a:ln>
                <a:solidFill>
                  <a:schemeClr val="tx1"/>
                </a:solidFill>
                <a:effectLst/>
                <a:uLnTx/>
                <a:uFillTx/>
                <a:latin typeface="+mn-lt"/>
                <a:ea typeface="+mn-ea"/>
                <a:cs typeface="+mn-cs"/>
              </a:rPr>
              <a:t> through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4</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0" u="none" strike="noStrike" kern="1200" cap="none" spc="0" normalizeH="0" baseline="-25000" noProof="0" dirty="0">
                <a:ln>
                  <a:noFill/>
                </a:ln>
                <a:solidFill>
                  <a:schemeClr val="tx1"/>
                </a:solidFill>
                <a:effectLst/>
                <a:uLnTx/>
                <a:uFillTx/>
                <a:latin typeface="+mn-lt"/>
                <a:ea typeface="+mn-ea"/>
                <a:cs typeface="+mn-cs"/>
              </a:rPr>
              <a:t> </a:t>
            </a:r>
            <a:r>
              <a:rPr kumimoji="0" lang="en-US" sz="2600" b="0" i="0" u="none" strike="noStrike" kern="1200" cap="none" spc="0" normalizeH="0" baseline="0" noProof="0" dirty="0">
                <a:ln>
                  <a:noFill/>
                </a:ln>
                <a:solidFill>
                  <a:schemeClr val="tx1"/>
                </a:solidFill>
                <a:effectLst/>
                <a:uLnTx/>
                <a:uFillTx/>
                <a:latin typeface="+mn-lt"/>
                <a:ea typeface="+mn-ea"/>
                <a:cs typeface="+mn-cs"/>
              </a:rPr>
              <a:t>three resource types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A (7 instances), </a:t>
            </a:r>
            <a:r>
              <a:rPr kumimoji="0" lang="en-US" sz="2600" b="0" i="1" u="none" strike="noStrike" kern="1200" cap="none" spc="0" normalizeH="0" baseline="0" noProof="0" dirty="0">
                <a:ln>
                  <a:noFill/>
                </a:ln>
                <a:solidFill>
                  <a:schemeClr val="tx1"/>
                </a:solidFill>
                <a:effectLst/>
                <a:uLnTx/>
                <a:uFillTx/>
                <a:latin typeface="+mn-lt"/>
                <a:ea typeface="+mn-ea"/>
                <a:cs typeface="+mn-cs"/>
              </a:rPr>
              <a:t>B </a:t>
            </a:r>
            <a:r>
              <a:rPr kumimoji="0" lang="en-US" sz="2600" b="0" i="0" u="none" strike="noStrike" kern="1200" cap="none" spc="0" normalizeH="0" baseline="0" noProof="0" dirty="0">
                <a:ln>
                  <a:noFill/>
                </a:ln>
                <a:solidFill>
                  <a:schemeClr val="tx1"/>
                </a:solidFill>
                <a:effectLst/>
                <a:uLnTx/>
                <a:uFillTx/>
                <a:latin typeface="+mn-lt"/>
                <a:ea typeface="+mn-ea"/>
                <a:cs typeface="+mn-cs"/>
              </a:rPr>
              <a:t>(2 instances), and </a:t>
            </a:r>
            <a:r>
              <a:rPr kumimoji="0" lang="en-US" sz="2600" b="0" i="1" u="none" strike="noStrike" kern="1200" cap="none" spc="0" normalizeH="0" baseline="0" noProof="0" dirty="0">
                <a:ln>
                  <a:noFill/>
                </a:ln>
                <a:solidFill>
                  <a:schemeClr val="tx1"/>
                </a:solidFill>
                <a:effectLst/>
                <a:uLnTx/>
                <a:uFillTx/>
                <a:latin typeface="+mn-lt"/>
                <a:ea typeface="+mn-ea"/>
                <a:cs typeface="+mn-cs"/>
              </a:rPr>
              <a:t>C</a:t>
            </a:r>
            <a:r>
              <a:rPr kumimoji="0" lang="en-US" sz="2600" b="0" i="0" u="none" strike="noStrike" kern="1200" cap="none" spc="0" normalizeH="0" baseline="0" noProof="0" dirty="0">
                <a:ln>
                  <a:noFill/>
                </a:ln>
                <a:solidFill>
                  <a:schemeClr val="tx1"/>
                </a:solidFill>
                <a:effectLst/>
                <a:uLnTx/>
                <a:uFillTx/>
                <a:latin typeface="+mn-lt"/>
                <a:ea typeface="+mn-ea"/>
                <a:cs typeface="+mn-cs"/>
              </a:rPr>
              <a:t> (6 instances).</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Snapshot at time </a:t>
            </a:r>
            <a:r>
              <a:rPr kumimoji="0" lang="en-US" sz="2600" b="0" i="1" u="none" strike="noStrike" kern="1200" cap="none" spc="0" normalizeH="0" baseline="0" noProof="0" dirty="0">
                <a:ln>
                  <a:noFill/>
                </a:ln>
                <a:solidFill>
                  <a:schemeClr val="tx1"/>
                </a:solidFill>
                <a:effectLst/>
                <a:uLnTx/>
                <a:uFillTx/>
                <a:latin typeface="+mn-lt"/>
                <a:ea typeface="+mn-ea"/>
                <a:cs typeface="+mn-cs"/>
              </a:rPr>
              <a:t>T</a:t>
            </a:r>
            <a:r>
              <a:rPr kumimoji="0" lang="en-US" sz="2600" b="0" i="0" u="none" strike="noStrike" kern="1200" cap="none" spc="0" normalizeH="0" baseline="-25000" noProof="0" dirty="0">
                <a:ln>
                  <a:noFill/>
                </a:ln>
                <a:solidFill>
                  <a:schemeClr val="tx1"/>
                </a:solidFill>
                <a:effectLst/>
                <a:uLnTx/>
                <a:uFillTx/>
                <a:latin typeface="+mn-lt"/>
                <a:ea typeface="+mn-ea"/>
                <a:cs typeface="+mn-cs"/>
              </a:rPr>
              <a:t>0</a:t>
            </a:r>
            <a:r>
              <a:rPr kumimoji="0" lang="en-US" sz="2600" b="0" i="0" u="none" strike="noStrike" kern="1200" cap="none" spc="0" normalizeH="0" baseline="0" noProof="0" dirty="0">
                <a:ln>
                  <a:noFill/>
                </a:ln>
                <a:solidFill>
                  <a:schemeClr val="tx1"/>
                </a:solidFill>
                <a:effectLst/>
                <a:uLnTx/>
                <a:uFillTx/>
                <a:latin typeface="+mn-lt"/>
                <a:ea typeface="+mn-ea"/>
                <a:cs typeface="+mn-cs"/>
              </a:rPr>
              <a: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sng" strike="noStrike" kern="1200" cap="none" spc="0" normalizeH="0" baseline="0" noProof="0" dirty="0">
                <a:ln>
                  <a:noFill/>
                </a:ln>
                <a:solidFill>
                  <a:schemeClr val="tx1"/>
                </a:solidFill>
                <a:effectLst/>
                <a:uLnTx/>
                <a:uFillTx/>
                <a:latin typeface="+mn-lt"/>
                <a:ea typeface="+mn-ea"/>
                <a:cs typeface="+mn-cs"/>
              </a:rPr>
              <a:t>Allocation	Request	Available</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 B C 	A B C 	A B C</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0</a:t>
            </a:r>
            <a:r>
              <a:rPr kumimoji="0" lang="en-US" sz="2600" b="0" i="0" u="none" strike="noStrike" kern="1200" cap="none" spc="0" normalizeH="0" baseline="0" noProof="0" dirty="0">
                <a:ln>
                  <a:noFill/>
                </a:ln>
                <a:solidFill>
                  <a:schemeClr val="tx1"/>
                </a:solidFill>
                <a:effectLst/>
                <a:uLnTx/>
                <a:uFillTx/>
                <a:latin typeface="+mn-lt"/>
                <a:ea typeface="+mn-ea"/>
                <a:cs typeface="+mn-cs"/>
              </a:rPr>
              <a:t>	0 1 0 	0 0 0 	0 0 0</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2 0 0 	2 0 2</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3 0 3	0 0 0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3</a:t>
            </a:r>
            <a:r>
              <a:rPr kumimoji="0" lang="en-US" sz="2600" b="0" i="0" u="none" strike="noStrike" kern="1200" cap="none" spc="0" normalizeH="0" baseline="0" noProof="0" dirty="0">
                <a:ln>
                  <a:noFill/>
                </a:ln>
                <a:solidFill>
                  <a:schemeClr val="tx1"/>
                </a:solidFill>
                <a:effectLst/>
                <a:uLnTx/>
                <a:uFillTx/>
                <a:latin typeface="+mn-lt"/>
                <a:ea typeface="+mn-ea"/>
                <a:cs typeface="+mn-cs"/>
              </a:rPr>
              <a:t>	2 1 1 	1 0 0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4</a:t>
            </a:r>
            <a:r>
              <a:rPr kumimoji="0" lang="en-US" sz="2600" b="0" i="0" u="none" strike="noStrike" kern="1200" cap="none" spc="0" normalizeH="0" baseline="0" noProof="0" dirty="0">
                <a:ln>
                  <a:noFill/>
                </a:ln>
                <a:solidFill>
                  <a:schemeClr val="tx1"/>
                </a:solidFill>
                <a:effectLst/>
                <a:uLnTx/>
                <a:uFillTx/>
                <a:latin typeface="+mn-lt"/>
                <a:ea typeface="+mn-ea"/>
                <a:cs typeface="+mn-cs"/>
              </a:rPr>
              <a:t>	0 0 2 	0 0 2</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tabLst>
                <a:tab pos="1428750" algn="l"/>
                <a:tab pos="2338070" algn="ctr"/>
                <a:tab pos="3594100" algn="ctr"/>
                <a:tab pos="492125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Sequence &lt;</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0</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3</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smtClean="0">
                <a:ln>
                  <a:noFill/>
                </a:ln>
                <a:solidFill>
                  <a:schemeClr val="tx1"/>
                </a:solidFill>
                <a:effectLst/>
                <a:uLnTx/>
                <a:uFillTx/>
                <a:latin typeface="+mn-lt"/>
                <a:ea typeface="+mn-ea"/>
                <a:cs typeface="+mn-cs"/>
              </a:rPr>
              <a:t>P</a:t>
            </a:r>
            <a:r>
              <a:rPr kumimoji="0" lang="en-US" sz="2600" b="0" i="1" u="none" strike="noStrike" kern="1200" cap="none" spc="0" normalizeH="0" baseline="-25000" noProof="0" dirty="0" smtClean="0">
                <a:ln>
                  <a:noFill/>
                </a:ln>
                <a:solidFill>
                  <a:schemeClr val="tx1"/>
                </a:solidFill>
                <a:effectLst/>
                <a:uLnTx/>
                <a:uFillTx/>
                <a:latin typeface="+mn-lt"/>
                <a:ea typeface="+mn-ea"/>
                <a:cs typeface="+mn-cs"/>
              </a:rPr>
              <a:t>4</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0" i="1" u="none" strike="noStrike" kern="1200" cap="none" spc="0" normalizeH="0" baseline="0" noProof="0" dirty="0" smtClean="0">
                <a:ln>
                  <a:noFill/>
                </a:ln>
                <a:solidFill>
                  <a:schemeClr val="tx1"/>
                </a:solidFill>
                <a:effectLst/>
                <a:uLnTx/>
                <a:uFillTx/>
                <a:latin typeface="+mn-lt"/>
                <a:ea typeface="+mn-ea"/>
                <a:cs typeface="+mn-cs"/>
              </a:rPr>
              <a:t>P</a:t>
            </a:r>
            <a:r>
              <a:rPr kumimoji="0" lang="en-US" sz="2600" b="0" i="1" u="none" strike="noStrike" kern="1200" cap="none" spc="0" normalizeH="0" baseline="-25000" noProof="0" dirty="0" smtClean="0">
                <a:ln>
                  <a:noFill/>
                </a:ln>
                <a:solidFill>
                  <a:schemeClr val="tx1"/>
                </a:solidFill>
                <a:effectLst/>
                <a:uLnTx/>
                <a:uFillTx/>
                <a:latin typeface="+mn-lt"/>
                <a:ea typeface="+mn-ea"/>
                <a:cs typeface="+mn-cs"/>
              </a:rPr>
              <a:t>1</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&gt; </a:t>
            </a:r>
            <a:r>
              <a:rPr kumimoji="0" lang="en-US" sz="2600" b="0" i="0" u="none" strike="noStrike" kern="1200" cap="none" spc="0" normalizeH="0" baseline="0" noProof="0" dirty="0">
                <a:ln>
                  <a:noFill/>
                </a:ln>
                <a:solidFill>
                  <a:schemeClr val="tx1"/>
                </a:solidFill>
                <a:effectLst/>
                <a:uLnTx/>
                <a:uFillTx/>
                <a:latin typeface="+mn-lt"/>
                <a:ea typeface="+mn-ea"/>
                <a:cs typeface="+mn-cs"/>
              </a:rPr>
              <a:t>will result in </a:t>
            </a:r>
            <a:r>
              <a:rPr kumimoji="0" lang="en-US" sz="2600" b="0" i="1" u="none" strike="noStrike" kern="1200" cap="none" spc="0" normalizeH="0" baseline="0" noProof="0" dirty="0" smtClean="0">
                <a:ln>
                  <a:noFill/>
                </a:ln>
                <a:solidFill>
                  <a:schemeClr val="tx1"/>
                </a:solidFill>
                <a:effectLst/>
                <a:uLnTx/>
                <a:uFillTx/>
                <a:latin typeface="+mn-lt"/>
                <a:ea typeface="+mn-ea"/>
                <a:cs typeface="+mn-cs"/>
              </a:rPr>
              <a:t>Finish</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600" b="0" i="1" u="none" strike="noStrike" kern="1200" cap="none" spc="0" normalizeH="0" baseline="0" noProof="0" dirty="0" err="1" smtClean="0">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true for all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1428750" algn="l"/>
                <a:tab pos="2338070" algn="ctr"/>
                <a:tab pos="3594100" algn="ctr"/>
                <a:tab pos="4921250" algn="ctr"/>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1"/>
          <p:cNvSpPr>
            <a:spLocks noGrp="1"/>
          </p:cNvSpPr>
          <p:nvPr>
            <p:ph type="title"/>
          </p:nvPr>
        </p:nvSpPr>
        <p:spPr>
          <a:ln/>
        </p:spPr>
        <p:txBody>
          <a:bodyPr vert="horz" wrap="square" lIns="0" tIns="45720" rIns="0" bIns="0" anchor="b" anchorCtr="0"/>
          <a:p>
            <a:pPr>
              <a:buNone/>
            </a:pPr>
            <a:endParaRPr dirty="0"/>
          </a:p>
        </p:txBody>
      </p:sp>
      <p:pic>
        <p:nvPicPr>
          <p:cNvPr id="86018" name="Picture 2" descr="https://fchat.s3.ap-south-1.amazonaws.com/default/KfkjaUwmNl.1615962207850.jpg"/>
          <p:cNvPicPr>
            <a:picLocks noGrp="1" noChangeAspect="1" noChangeArrowheads="1"/>
          </p:cNvPicPr>
          <p:nvPr>
            <p:ph idx="1"/>
          </p:nvPr>
        </p:nvPicPr>
        <p:blipFill rotWithShape="1">
          <a:blip r:embed="rId1"/>
          <a:srcRect l="1319" r="4385"/>
          <a:stretch>
            <a:fillRect/>
          </a:stretch>
        </p:blipFill>
        <p:spPr>
          <a:xfrm>
            <a:off x="1676400" y="914400"/>
            <a:ext cx="4953000" cy="5578475"/>
          </a:xfrm>
          <a:effectLst>
            <a:outerShdw blurRad="292100" dist="139700" dir="2700000" algn="tl" rotWithShape="0">
              <a:srgbClr val="333333">
                <a:alpha val="65000"/>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a:ln/>
        </p:spPr>
        <p:txBody>
          <a:bodyPr vert="horz" wrap="square" lIns="0" tIns="45720" rIns="0" bIns="0" anchor="b" anchorCtr="0"/>
          <a:p>
            <a:pPr eaLnBrk="1" hangingPunct="1"/>
            <a:r>
              <a:rPr dirty="0"/>
              <a:t>Example (Cont.)</a:t>
            </a:r>
            <a:endParaRPr dirty="0"/>
          </a:p>
        </p:txBody>
      </p:sp>
      <p:sp>
        <p:nvSpPr>
          <p:cNvPr id="69635" name="Rectangle 3"/>
          <p:cNvSpPr>
            <a:spLocks noGrp="1" noChangeArrowheads="1"/>
          </p:cNvSpPr>
          <p:nvPr>
            <p:ph idx="1"/>
          </p:nvPr>
        </p:nvSpPr>
        <p:spPr>
          <a:xfrm>
            <a:off x="457200" y="1935163"/>
            <a:ext cx="8229600" cy="4389438"/>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tabLst>
                <a:tab pos="2800350" algn="l"/>
                <a:tab pos="3708400" algn="ctr"/>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requests an additional instance of type</a:t>
            </a:r>
            <a:r>
              <a:rPr kumimoji="0" lang="en-US" sz="2600" b="0" i="1" u="none" strike="noStrike" kern="1200" cap="none" spc="0" normalizeH="0" baseline="0" noProof="0" dirty="0">
                <a:ln>
                  <a:noFill/>
                </a:ln>
                <a:solidFill>
                  <a:schemeClr val="tx1"/>
                </a:solidFill>
                <a:effectLst/>
                <a:uLnTx/>
                <a:uFillTx/>
                <a:latin typeface="+mn-lt"/>
                <a:ea typeface="+mn-ea"/>
                <a:cs typeface="+mn-cs"/>
              </a:rPr>
              <a:t> C</a:t>
            </a:r>
            <a:r>
              <a:rPr kumimoji="0" lang="en-US" sz="2600" b="0" i="0" u="none" strike="noStrike" kern="1200" cap="none" spc="0" normalizeH="0" baseline="0" noProof="0" dirty="0">
                <a:ln>
                  <a:noFill/>
                </a:ln>
                <a:solidFill>
                  <a:schemeClr val="tx1"/>
                </a:solidFill>
                <a:effectLst/>
                <a:uLnTx/>
                <a:uFillTx/>
                <a:latin typeface="+mn-lt"/>
                <a:ea typeface="+mn-ea"/>
                <a:cs typeface="+mn-cs"/>
              </a:rPr>
              <a: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sng" strike="noStrike" kern="1200" cap="none" spc="0" normalizeH="0" baseline="0" noProof="0" dirty="0">
                <a:ln>
                  <a:noFill/>
                </a:ln>
                <a:solidFill>
                  <a:schemeClr val="tx1"/>
                </a:solidFill>
                <a:effectLst/>
                <a:uLnTx/>
                <a:uFillTx/>
                <a:latin typeface="+mn-lt"/>
                <a:ea typeface="+mn-ea"/>
                <a:cs typeface="+mn-cs"/>
              </a:rPr>
              <a:t>Request</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A B C</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0</a:t>
            </a:r>
            <a:r>
              <a:rPr kumimoji="0" lang="en-US" sz="2600" b="0" i="0" u="none" strike="noStrike" kern="1200" cap="none" spc="0" normalizeH="0" baseline="0" noProof="0" dirty="0">
                <a:ln>
                  <a:noFill/>
                </a:ln>
                <a:solidFill>
                  <a:schemeClr val="tx1"/>
                </a:solidFill>
                <a:effectLst/>
                <a:uLnTx/>
                <a:uFillTx/>
                <a:latin typeface="+mn-lt"/>
                <a:ea typeface="+mn-ea"/>
                <a:cs typeface="+mn-cs"/>
              </a:rPr>
              <a:t>	0 0 0</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0" u="none" strike="noStrike" kern="1200" cap="none" spc="0" normalizeH="0" baseline="0" noProof="0">
                <a:ln>
                  <a:noFill/>
                </a:ln>
                <a:solidFill>
                  <a:schemeClr val="tx1"/>
                </a:solidFill>
                <a:effectLst/>
                <a:uLnTx/>
                <a:uFillTx/>
                <a:latin typeface="+mn-lt"/>
                <a:ea typeface="+mn-ea"/>
                <a:cs typeface="+mn-cs"/>
              </a:rPr>
              <a:t>		 </a:t>
            </a:r>
            <a:r>
              <a:rPr kumimoji="0" lang="en-US" sz="2600" b="0" i="1" u="none" strike="noStrike" kern="1200" cap="none" spc="0" normalizeH="0" baseline="0" noProof="0">
                <a:ln>
                  <a:noFill/>
                </a:ln>
                <a:solidFill>
                  <a:schemeClr val="tx1"/>
                </a:solidFill>
                <a:effectLst/>
                <a:uLnTx/>
                <a:uFillTx/>
                <a:latin typeface="+mn-lt"/>
                <a:ea typeface="+mn-ea"/>
                <a:cs typeface="+mn-cs"/>
              </a:rPr>
              <a:t>P</a:t>
            </a:r>
            <a:r>
              <a:rPr kumimoji="0" lang="en-US" sz="2600" b="0" i="0" u="none" strike="noStrike" kern="1200" cap="none" spc="0" normalizeH="0" baseline="-25000" noProof="0">
                <a:ln>
                  <a:noFill/>
                </a:ln>
                <a:solidFill>
                  <a:schemeClr val="tx1"/>
                </a:solidFill>
                <a:effectLst/>
                <a:uLnTx/>
                <a:uFillTx/>
                <a:latin typeface="+mn-lt"/>
                <a:ea typeface="+mn-ea"/>
                <a:cs typeface="+mn-cs"/>
              </a:rPr>
              <a:t>1</a:t>
            </a:r>
            <a:r>
              <a:rPr kumimoji="0" lang="en-US" sz="2600" b="0" i="0" u="none" strike="noStrike" kern="1200" cap="none" spc="0" normalizeH="0" baseline="0" noProof="0">
                <a:ln>
                  <a:noFill/>
                </a:ln>
                <a:solidFill>
                  <a:schemeClr val="tx1"/>
                </a:solidFill>
                <a:effectLst/>
                <a:uLnTx/>
                <a:uFillTx/>
                <a:latin typeface="+mn-lt"/>
                <a:ea typeface="+mn-ea"/>
                <a:cs typeface="+mn-cs"/>
              </a:rPr>
              <a:t>	2 0 </a:t>
            </a:r>
            <a:r>
              <a:rPr kumimoji="0" lang="en-US" sz="2600" b="0" i="0" u="none" strike="noStrike" kern="1200" cap="none" spc="0" normalizeH="0" baseline="0" noProof="0" smtClean="0">
                <a:ln>
                  <a:noFill/>
                </a:ln>
                <a:solidFill>
                  <a:schemeClr val="tx1"/>
                </a:solidFill>
                <a:effectLst/>
                <a:uLnTx/>
                <a:uFillTx/>
                <a:latin typeface="+mn-lt"/>
                <a:ea typeface="+mn-ea"/>
                <a:cs typeface="+mn-cs"/>
              </a:rPr>
              <a:t>2</a:t>
            </a:r>
            <a:endParaRPr kumimoji="0" lang="en-US" sz="2600" b="0" i="0" u="none" strike="noStrike" kern="1200" cap="none" spc="0" normalizeH="0" baseline="0" noProof="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0 0 1</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3</a:t>
            </a:r>
            <a:r>
              <a:rPr kumimoji="0" lang="en-US" sz="2600" b="0" i="0" u="none" strike="noStrike" kern="1200" cap="none" spc="0" normalizeH="0" baseline="0" noProof="0" dirty="0">
                <a:ln>
                  <a:noFill/>
                </a:ln>
                <a:solidFill>
                  <a:schemeClr val="tx1"/>
                </a:solidFill>
                <a:effectLst/>
                <a:uLnTx/>
                <a:uFillTx/>
                <a:latin typeface="+mn-lt"/>
                <a:ea typeface="+mn-ea"/>
                <a:cs typeface="+mn-cs"/>
              </a:rPr>
              <a:t>	1 0 0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Tx/>
              <a:buNone/>
              <a:tabLst>
                <a:tab pos="2800350" algn="l"/>
                <a:tab pos="370840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P</a:t>
            </a:r>
            <a:r>
              <a:rPr kumimoji="0" lang="en-US" sz="2600" b="0" i="0" u="none" strike="noStrike" kern="1200" cap="none" spc="0" normalizeH="0" baseline="-25000" noProof="0" dirty="0">
                <a:ln>
                  <a:noFill/>
                </a:ln>
                <a:solidFill>
                  <a:schemeClr val="tx1"/>
                </a:solidFill>
                <a:effectLst/>
                <a:uLnTx/>
                <a:uFillTx/>
                <a:latin typeface="+mn-lt"/>
                <a:ea typeface="+mn-ea"/>
                <a:cs typeface="+mn-cs"/>
              </a:rPr>
              <a:t>4</a:t>
            </a:r>
            <a:r>
              <a:rPr kumimoji="0" lang="en-US" sz="2600" b="0" i="0" u="none" strike="noStrike" kern="1200" cap="none" spc="0" normalizeH="0" baseline="0" noProof="0" dirty="0">
                <a:ln>
                  <a:noFill/>
                </a:ln>
                <a:solidFill>
                  <a:schemeClr val="tx1"/>
                </a:solidFill>
                <a:effectLst/>
                <a:uLnTx/>
                <a:uFillTx/>
                <a:latin typeface="+mn-lt"/>
                <a:ea typeface="+mn-ea"/>
                <a:cs typeface="+mn-cs"/>
              </a:rPr>
              <a:t>	0 0 2</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tabLst>
                <a:tab pos="2800350" algn="l"/>
                <a:tab pos="3708400" algn="ct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State of system?</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tabLst>
                <a:tab pos="2800350" algn="l"/>
                <a:tab pos="3708400" algn="ctr"/>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Can reclaim resources held by process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kumimoji="0" lang="en-US" sz="2400" b="0" i="0" u="none" strike="noStrike" kern="1200" cap="none" spc="0" normalizeH="0" baseline="-25000" noProof="0" dirty="0">
                <a:ln>
                  <a:noFill/>
                </a:ln>
                <a:solidFill>
                  <a:schemeClr val="tx1"/>
                </a:solidFill>
                <a:effectLst/>
                <a:uLnTx/>
                <a:uFillTx/>
                <a:latin typeface="+mn-lt"/>
                <a:ea typeface="+mn-ea"/>
                <a:cs typeface="+mn-cs"/>
              </a:rPr>
              <a:t>0</a:t>
            </a:r>
            <a:r>
              <a:rPr kumimoji="0" lang="en-US" sz="2400" b="0" i="0" u="none" strike="noStrike" kern="1200" cap="none" spc="0" normalizeH="0" baseline="0" noProof="0" dirty="0">
                <a:ln>
                  <a:noFill/>
                </a:ln>
                <a:solidFill>
                  <a:schemeClr val="tx1"/>
                </a:solidFill>
                <a:effectLst/>
                <a:uLnTx/>
                <a:uFillTx/>
                <a:latin typeface="+mn-lt"/>
                <a:ea typeface="+mn-ea"/>
                <a:cs typeface="+mn-cs"/>
              </a:rPr>
              <a:t>, but insufficient resources to fulfill other processes; requests.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tabLst>
                <a:tab pos="2800350" algn="l"/>
                <a:tab pos="3708400" algn="ctr"/>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Deadlock exists, consisting of processes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kumimoji="0" lang="en-US" sz="2400" b="0" i="0" u="none" strike="noStrike" kern="1200" cap="none" spc="0" normalizeH="0" baseline="-25000" noProof="0" dirty="0">
                <a:ln>
                  <a:noFill/>
                </a:ln>
                <a:solidFill>
                  <a:schemeClr val="tx1"/>
                </a:solidFill>
                <a:effectLst/>
                <a:uLnTx/>
                <a:uFillTx/>
                <a:latin typeface="+mn-lt"/>
                <a:ea typeface="+mn-ea"/>
                <a:cs typeface="+mn-cs"/>
              </a:rPr>
              <a:t>1</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25000" noProof="0" dirty="0">
                <a:ln>
                  <a:noFill/>
                </a:ln>
                <a:solidFill>
                  <a:schemeClr val="tx1"/>
                </a:solidFill>
                <a:effectLst/>
                <a:uLnTx/>
                <a:uFillTx/>
                <a:latin typeface="+mn-lt"/>
                <a:ea typeface="+mn-ea"/>
                <a:cs typeface="+mn-cs"/>
              </a:rPr>
              <a:t>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kumimoji="0" lang="en-US" sz="2400" b="0" i="0" u="none" strike="noStrike" kern="1200" cap="none" spc="0" normalizeH="0" baseline="-25000" noProof="0" dirty="0">
                <a:ln>
                  <a:noFill/>
                </a:ln>
                <a:solidFill>
                  <a:schemeClr val="tx1"/>
                </a:solidFill>
                <a:effectLst/>
                <a:uLnTx/>
                <a:uFillTx/>
                <a:latin typeface="+mn-lt"/>
                <a:ea typeface="+mn-ea"/>
                <a:cs typeface="+mn-cs"/>
              </a:rPr>
              <a:t>2</a:t>
            </a: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kumimoji="0" lang="en-US" sz="2400" b="0" i="0" u="none" strike="noStrike" kern="1200" cap="none" spc="0" normalizeH="0" baseline="-25000" noProof="0" dirty="0">
                <a:ln>
                  <a:noFill/>
                </a:ln>
                <a:solidFill>
                  <a:schemeClr val="tx1"/>
                </a:solidFill>
                <a:effectLst/>
                <a:uLnTx/>
                <a:uFillTx/>
                <a:latin typeface="+mn-lt"/>
                <a:ea typeface="+mn-ea"/>
                <a:cs typeface="+mn-cs"/>
              </a:rPr>
              <a:t>3</a:t>
            </a:r>
            <a:r>
              <a:rPr kumimoji="0" lang="en-US" sz="2400" b="0" i="0" u="none" strike="noStrike" kern="1200" cap="none" spc="0" normalizeH="0" baseline="0" noProof="0" dirty="0">
                <a:ln>
                  <a:noFill/>
                </a:ln>
                <a:solidFill>
                  <a:schemeClr val="tx1"/>
                </a:solidFill>
                <a:effectLst/>
                <a:uLnTx/>
                <a:uFillTx/>
                <a:latin typeface="+mn-lt"/>
                <a:ea typeface="+mn-ea"/>
                <a:cs typeface="+mn-cs"/>
              </a:rPr>
              <a:t>, and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kumimoji="0" lang="en-US" sz="2400" b="0" i="0" u="none" strike="noStrike" kern="1200" cap="none" spc="0" normalizeH="0" baseline="-25000" noProof="0" dirty="0">
                <a:ln>
                  <a:noFill/>
                </a:ln>
                <a:solidFill>
                  <a:schemeClr val="tx1"/>
                </a:solidFill>
                <a:effectLst/>
                <a:uLnTx/>
                <a:uFillTx/>
                <a:latin typeface="+mn-lt"/>
                <a:ea typeface="+mn-ea"/>
                <a:cs typeface="+mn-cs"/>
              </a:rPr>
              <a:t>4</a:t>
            </a:r>
            <a:r>
              <a:rPr kumimoji="0" lang="en-US" sz="2400" b="0" i="0" u="none" strike="noStrike" kern="1200" cap="none" spc="0" normalizeH="0" baseline="0" noProof="0" dirty="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itle 1"/>
          <p:cNvSpPr>
            <a:spLocks noGrp="1"/>
          </p:cNvSpPr>
          <p:nvPr>
            <p:ph type="title"/>
          </p:nvPr>
        </p:nvSpPr>
        <p:spPr>
          <a:ln/>
        </p:spPr>
        <p:txBody>
          <a:bodyPr vert="horz" wrap="square" lIns="0" tIns="45720" rIns="0" bIns="0" anchor="b" anchorCtr="0"/>
          <a:p>
            <a:pPr>
              <a:buNone/>
            </a:pPr>
            <a:endParaRPr dirty="0"/>
          </a:p>
        </p:txBody>
      </p:sp>
      <p:pic>
        <p:nvPicPr>
          <p:cNvPr id="61443" name="Picture 2" descr="https://fchat.s3.ap-south-1.amazonaws.com/default/Vf4klqpLl1.1615962061116.jpg"/>
          <p:cNvPicPr>
            <a:picLocks noGrp="1" noChangeAspect="1"/>
          </p:cNvPicPr>
          <p:nvPr>
            <p:ph idx="1"/>
          </p:nvPr>
        </p:nvPicPr>
        <p:blipFill>
          <a:blip r:embed="rId1"/>
          <a:srcRect b="20575"/>
          <a:stretch>
            <a:fillRect/>
          </a:stretch>
        </p:blipFill>
        <p:spPr>
          <a:xfrm>
            <a:off x="1600200" y="1219200"/>
            <a:ext cx="5410200" cy="5424488"/>
          </a:xfr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a:xfrm>
            <a:off x="381000" y="495300"/>
            <a:ext cx="8534400" cy="952500"/>
          </a:xfrm>
          <a:ln/>
        </p:spPr>
        <p:txBody>
          <a:bodyPr vert="horz" wrap="square" lIns="0" tIns="45720" rIns="0" bIns="0" anchor="b" anchorCtr="0"/>
          <a:p>
            <a:pPr eaLnBrk="1" hangingPunct="1"/>
            <a:r>
              <a:rPr sz="3200" b="1" dirty="0"/>
              <a:t>Recovery from Deadlock:  Process Termination</a:t>
            </a:r>
            <a:endParaRPr sz="3200" b="1" dirty="0"/>
          </a:p>
        </p:txBody>
      </p:sp>
      <p:sp>
        <p:nvSpPr>
          <p:cNvPr id="71683" name="Rectangle 3"/>
          <p:cNvSpPr>
            <a:spLocks noGrp="1" noChangeArrowheads="1"/>
          </p:cNvSpPr>
          <p:nvPr>
            <p:ph idx="1"/>
          </p:nvPr>
        </p:nvSpPr>
        <p:spPr>
          <a:xfrm>
            <a:off x="457200" y="1935163"/>
            <a:ext cx="8229600" cy="4389438"/>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a:ln>
                  <a:noFill/>
                </a:ln>
                <a:solidFill>
                  <a:schemeClr val="tx1"/>
                </a:solidFill>
                <a:effectLst/>
                <a:uLnTx/>
                <a:uFillTx/>
                <a:latin typeface="+mn-lt"/>
                <a:ea typeface="+mn-ea"/>
                <a:cs typeface="+mn-cs"/>
              </a:rPr>
              <a:t>Abort all deadlocked processes.</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a:ln>
                  <a:noFill/>
                </a:ln>
                <a:solidFill>
                  <a:schemeClr val="tx1"/>
                </a:solidFill>
                <a:effectLst/>
                <a:uLnTx/>
                <a:uFillTx/>
                <a:latin typeface="+mn-lt"/>
                <a:ea typeface="+mn-ea"/>
                <a:cs typeface="+mn-cs"/>
              </a:rPr>
              <a:t>Abort one process at a time until the deadlock cycle is eliminated.</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600" b="0" i="0" u="none" strike="noStrike" kern="1200" cap="none" spc="0" normalizeH="0" baseline="0" noProof="0" dirty="0">
                <a:ln>
                  <a:noFill/>
                </a:ln>
                <a:solidFill>
                  <a:schemeClr val="tx1"/>
                </a:solidFill>
                <a:effectLst/>
                <a:uLnTx/>
                <a:uFillTx/>
                <a:latin typeface="+mn-lt"/>
                <a:ea typeface="+mn-ea"/>
                <a:cs typeface="+mn-cs"/>
              </a:rPr>
              <a:t>In which order should we choose to abort?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Priority of the process.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How long process has computed, and how much longer to completion.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Resources the process has used.</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Resources process needs to complete.</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How many processes will need to be terminated.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Is process interactive or batch?</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381000" y="495300"/>
            <a:ext cx="8534400" cy="800100"/>
          </a:xfrm>
          <a:ln/>
        </p:spPr>
        <p:txBody>
          <a:bodyPr vert="horz" wrap="square" lIns="0" tIns="45720" rIns="0" bIns="0" anchor="b" anchorCtr="0"/>
          <a:p>
            <a:pPr eaLnBrk="1" hangingPunct="1"/>
            <a:r>
              <a:rPr sz="3200" b="1" dirty="0"/>
              <a:t>Recovery from Deadlock:  Resource Preemption</a:t>
            </a:r>
            <a:endParaRPr sz="3200" b="1" dirty="0"/>
          </a:p>
        </p:txBody>
      </p:sp>
      <p:sp>
        <p:nvSpPr>
          <p:cNvPr id="63491" name="Rectangle 3"/>
          <p:cNvSpPr>
            <a:spLocks noGrp="1"/>
          </p:cNvSpPr>
          <p:nvPr>
            <p:ph idx="1"/>
          </p:nvPr>
        </p:nvSpPr>
        <p:spPr>
          <a:ln/>
        </p:spPr>
        <p:txBody>
          <a:bodyPr vert="horz" wrap="square" lIns="91440" tIns="45720" rIns="91440" bIns="45720" anchor="t" anchorCtr="0"/>
          <a:p>
            <a:pPr eaLnBrk="1" hangingPunct="1"/>
            <a:r>
              <a:rPr dirty="0"/>
              <a:t>Selecting a victim – minimize cost.</a:t>
            </a:r>
            <a:endParaRPr dirty="0"/>
          </a:p>
          <a:p>
            <a:pPr eaLnBrk="1" hangingPunct="1"/>
            <a:r>
              <a:rPr dirty="0"/>
              <a:t>Rollback – return to some safe state, restart process fro that state.</a:t>
            </a:r>
            <a:endParaRPr dirty="0"/>
          </a:p>
          <a:p>
            <a:pPr eaLnBrk="1" hangingPunct="1"/>
            <a:r>
              <a:rPr dirty="0"/>
              <a:t>Starvation –  same process may always be picked as victim, include number of rollback in cost factor.</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14118</Words>
  <Application>WPS Presentation</Application>
  <PresentationFormat>On-screen Show (4:3)</PresentationFormat>
  <Paragraphs>296</Paragraphs>
  <Slides>52</Slides>
  <Notes>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52</vt:i4>
      </vt:variant>
    </vt:vector>
  </HeadingPairs>
  <TitlesOfParts>
    <vt:vector size="67" baseType="lpstr">
      <vt:lpstr>Arial</vt:lpstr>
      <vt:lpstr>SimSun</vt:lpstr>
      <vt:lpstr>Wingdings</vt:lpstr>
      <vt:lpstr>Calibri</vt:lpstr>
      <vt:lpstr>Constantia</vt:lpstr>
      <vt:lpstr>Wingdings 2</vt:lpstr>
      <vt:lpstr>Monotype Sorts</vt:lpstr>
      <vt:lpstr>Wingdings</vt:lpstr>
      <vt:lpstr>Symbol</vt:lpstr>
      <vt:lpstr>Lucida Sans Unicode</vt:lpstr>
      <vt:lpstr>Wingdings 2</vt:lpstr>
      <vt:lpstr>Microsoft YaHei</vt:lpstr>
      <vt:lpstr>Arial Unicode MS</vt:lpstr>
      <vt:lpstr>Monotype Sorts</vt:lpstr>
      <vt:lpstr>Flow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Deadlock</dc:title>
  <dc:creator>ASHU</dc:creator>
  <cp:lastModifiedBy>hp</cp:lastModifiedBy>
  <cp:revision>35</cp:revision>
  <dcterms:created xsi:type="dcterms:W3CDTF">2006-08-16T00:00:00Z</dcterms:created>
  <dcterms:modified xsi:type="dcterms:W3CDTF">2024-12-06T18:56:57Z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BB2476B91455400F9C22D27651826C9F_13</vt:lpwstr>
  </property>
  <property fmtid="{D5CDD505-2E9C-101B-9397-08002B2CF9AE}" pid="3" name="KSOProductBuildVer">
    <vt:lpwstr>1033-12.2.0.18911</vt:lpwstr>
  </property>
</Properties>
</file>